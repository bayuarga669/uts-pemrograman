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 type="custom"/>
  <p:notesSz cx="6858000" cy="12192000"/>
</p:presentation>
</file>

<file path=ppt/presProps.xml><?xml version="1.0" encoding="utf-8"?>
<p:presProps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ops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presProps" Target="presProps.xml"/>
  <Relationship Id="rId16" Type="http://schemas.openxmlformats.org/officeDocument/2006/relationships/viewProps" Target="viewProps.xml"/>
  <Relationship Id="rId17" Type="http://schemas.openxmlformats.org/officeDocument/2006/relationships/theme" Target="theme/theme1.xml"/>
  <Relationship Id="rId18" Type="http://schemas.openxmlformats.org/officeDocument/2006/relationships/tableStyles" Target="tableStyles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914400" y="685800"/>
            <a:ext cx="4114800" cy="384048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>
            <a:noFill/>
          </a:ln>
        </p:spPr>
        <p:txBody>
          <a:bodyPr wrap="square" lIns="91440" tIns="68580" rIns="91440" bIns="6858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0F172A"/>
                </a:solidFill>
                <a:latin typeface="Calibri"/>
                <a:cs typeface="Calibri"/>
              </a:rPr>
              <a:t>LAPORAN MINI PROJECT PEMROGRAMAN DASAR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914400" y="1234440"/>
            <a:ext cx="10241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lang="id-ID" sz="4000" b="1" i="0" dirty="0">
                <a:solidFill>
                  <a:srgbClr val="FFFFFF"/>
                </a:solidFill>
                <a:latin typeface="Calibri"/>
                <a:cs typeface="Calibri"/>
              </a:rPr>
              <a:t>SISTEM RENTAL FILM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500" b="0" i="0" dirty="0">
                <a:solidFill>
                  <a:srgbClr val="94A3B8"/>
                </a:solidFill>
                <a:latin typeface="Calibri"/>
                <a:cs typeface="Calibri"/>
              </a:rPr>
              <a:t>Implementasi Bahasa C Menggunakan do-while, switch-case, dan if-else (Tanpa Array Data, Struct, &amp; Pointer)</a:t>
            </a:r>
          </a:p>
        </p:txBody>
      </p:sp>
      <p:sp>
        <p:nvSpPr>
          <p:cNvPr id="6" name="Rect6"/>
          <p:cNvSpPr/>
          <p:nvPr/>
        </p:nvSpPr>
        <p:spPr>
          <a:xfrm>
            <a:off x="914400" y="2651760"/>
            <a:ext cx="621792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</p:sp>
      <p:sp>
        <p:nvSpPr>
          <p:cNvPr id="7" name="TextBox7"/>
          <p:cNvSpPr txBox="1"/>
          <p:nvPr/>
        </p:nvSpPr>
        <p:spPr>
          <a:xfrm>
            <a:off x="1143000" y="2834640"/>
            <a:ext cx="576072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0"/>
              </a:spcAft>
              <a:buNone/>
            </a:pPr>
            <a:r>
              <a:rPr lang="id-ID" sz="1500" b="1" i="0" dirty="0">
                <a:solidFill>
                  <a:srgbClr val="38BDF8"/>
                </a:solidFill>
                <a:latin typeface="Calibri"/>
                <a:cs typeface="Calibri"/>
              </a:rPr>
              <a:t>KELOMPOK 3 — PEMBAGIAN ANGGOTA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 Mahasiswa 1 (NRP: ....................) — Data Pelanggan &amp; Film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100" b="0" i="0" dirty="0">
                <a:solidFill>
                  <a:srgbClr val="CBD5E1"/>
                </a:solidFill>
                <a:latin typeface="Calibri"/>
                <a:cs typeface="Calibri"/>
              </a:rPr>
              <a:t>    Input ID &amp; nama pelanggan, daftar 5 film, validasi pilihan film (do-while &amp; switch)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2. Mahasiswa 2 (NRP: ....................) — Proses Sewa &amp; Denda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100" b="0" i="0" dirty="0">
                <a:solidFill>
                  <a:srgbClr val="CBD5E1"/>
                </a:solidFill>
                <a:latin typeface="Calibri"/>
                <a:cs typeface="Calibri"/>
              </a:rPr>
              <a:t>    Input lama pinjam, opsi perpanjangan (y/n), hitung biaya sewa, denda &amp; status (if-else)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 Mahasiswa 3 (NRP: ....................) — Transaksi &amp; Pengujian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CBD5E1"/>
                </a:solidFill>
                <a:latin typeface="Calibri"/>
                <a:cs typeface="Calibri"/>
              </a:rPr>
              <a:t>    Menampilkan bukti rental, biaya, denda, total bayar, status, &amp; pengujian program</a:t>
            </a:r>
          </a:p>
        </p:txBody>
      </p:sp>
      <p:sp>
        <p:nvSpPr>
          <p:cNvPr id="8" name="Rect8"/>
          <p:cNvSpPr/>
          <p:nvPr/>
        </p:nvSpPr>
        <p:spPr>
          <a:xfrm>
            <a:off x="7406640" y="2651760"/>
            <a:ext cx="411480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</p:sp>
      <p:sp>
        <p:nvSpPr>
          <p:cNvPr id="9" name="TextBox9"/>
          <p:cNvSpPr txBox="1"/>
          <p:nvPr/>
        </p:nvSpPr>
        <p:spPr>
          <a:xfrm>
            <a:off x="7635240" y="2834640"/>
            <a:ext cx="3657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200"/>
              </a:spcAft>
              <a:buNone/>
            </a:pPr>
            <a:r>
              <a:rPr lang="id-ID" sz="1500" b="1" i="0" dirty="0">
                <a:solidFill>
                  <a:srgbClr val="38BDF8"/>
                </a:solidFill>
                <a:latin typeface="Calibri"/>
                <a:cs typeface="Calibri"/>
              </a:rPr>
              <a:t>INFORMASI AKADEMIK</a:t>
            </a:r>
          </a:p>
          <a:p>
            <a:pPr algn="l">
              <a:spcAft>
                <a:spcPts val="1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Mata Kuliah :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400" b="1" i="0" dirty="0">
                <a:solidFill>
                  <a:srgbClr val="FFFFFF"/>
                </a:solidFill>
                <a:latin typeface="Calibri"/>
                <a:cs typeface="Calibri"/>
              </a:rPr>
              <a:t>Pemrograman Dasar</a:t>
            </a:r>
          </a:p>
          <a:p>
            <a:pPr algn="l">
              <a:spcAft>
                <a:spcPts val="1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Dosen Pengampu :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300" b="0" i="0" dirty="0">
                <a:solidFill>
                  <a:srgbClr val="FFFFFF"/>
                </a:solidFill>
                <a:latin typeface="Calibri"/>
                <a:cs typeface="Calibri"/>
              </a:rPr>
              <a:t>................................................</a:t>
            </a:r>
          </a:p>
          <a:p>
            <a:pPr algn="l">
              <a:spcAft>
                <a:spcPts val="1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Program Studi / Institusi :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300" b="0" i="0" dirty="0">
                <a:solidFill>
                  <a:srgbClr val="FFFFFF"/>
                </a:solidFill>
                <a:latin typeface="Calibri"/>
                <a:cs typeface="Calibri"/>
              </a:rPr>
              <a:t>................................................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38BDF8"/>
                </a:solidFill>
                <a:latin typeface="Calibri"/>
                <a:cs typeface="Calibri"/>
              </a:rPr>
              <a:t>Tahun Akademik 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PENDAHULUAN: LATAR BELAKANG &amp; RUMUSAN MASALAH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1.1 Latar Belakang &amp; 1.2 Rumusan Masalah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2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1.1 Latar Belakang Permasalahan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Proses penyewaan film secara manual membutuhkan pencatatan data pelanggan, pemilihan film yang tersedia, serta perhitungan biaya sewa dan denda keterlambatan secara terstruktur.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Selain itu, pelanggan terkadang membutuhkan perpanjangan masa sewa sebelum mengembalikan film.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Oleh karena itu, dibuat program sederhana menggunakan bahasa C untuk membantu proses transaksi rental film mulai dari validasi ketersediaan film hingga pencetakan bukti rental.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1.2 Rumusan Masalah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1. Bagaimana membuat program Sistem Rental Film menggunakan bahasa C?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2. Bagaimana melakukan input data pelanggan serta validasi pilihan dan ketersediaan stok film menggunakan do-while?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3. Bagaimana menentukan biaya sewa, perpanjangan lama peminjaman, denda keterlambatan (Rp2.000/hari), dan status pengembalian menggunakan if-else?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4. Bagaimana menampilkan bukti rental lengkap serta menguji skenario peminjaman tepat waktu dan terlambat?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PENDAHULUAN: TUJUAN &amp; BATASAN MASALAH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1.3 Tujuan &amp; 1.4 Batasan Masalah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3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1.3 Tujuan Pembuatan Program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1. Membuat program Sistem Rental Film menggunakan bahasa C.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2. Menerapkan struktur percabangan if, if-else, dan switch-case.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3. Menerapkan struktur perulangan do-while untuk validasi input pilihan film.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4. Menghitung biaya sewa, perpanjangan durasi, dan denda keterlambatan secara tepat.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5. Mengembangkan kemampuan bekerja sama dan integrasi kode dalam kelompok.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DC2626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1.4 Batasan Masalah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dibuat menggunakan bahasa C (&lt;stdio.h&gt; dan &lt;string.h&gt;).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TIDAK menggunakan array untuk menyimpan daftar film (menggunakan #define konstanta).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TIDAK menggunakan struct maupun konsep OOP.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TIDAK menggunakan pointer.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Struktur kontrol yang digunakan adalah do-while, switch-case, if, dan if-else.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Denda keterlambatan ditetapkan sebesar Rp2.000 per hari keterlambatan.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ANALISIS &amp; PERANCANGAN: DESKRIPSI SISTEM &amp; IPO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2.1 Deskripsi Sistem &amp; 2.2 Input - Proses - Output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4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110642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298448"/>
            <a:ext cx="1106424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44168"/>
            <a:ext cx="10735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2.1 Deskripsi Singkat Sistem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Program dimulai dengan menerima input ID dan nama pelanggan, lalu menampilkan daftar 5 film beserta biaya/hari dan status ketersediaannya (Tersedia/Dipinjam). Pelanggan memilih nomor film (1-5) dan program memvalidasi pilihan menggunakan do-while &amp; switch-case (jika stok = 0 seperti Interstellar, pelanggan diminta memilih ulang). Selanjutnya pelanggan memasukkan lama peminjaman, opsi perpanjangan (y/n), dan hari pengembalian. Program menghitung biaya sewa, mengecek keterlambatan (if-else) dengan denda Rp2.000/hari, lalu mencetak Bukti Rental.</a:t>
            </a:r>
          </a:p>
        </p:txBody>
      </p:sp>
      <p:sp>
        <p:nvSpPr>
          <p:cNvPr id="14" name="Rect14"/>
          <p:cNvSpPr/>
          <p:nvPr/>
        </p:nvSpPr>
        <p:spPr>
          <a:xfrm>
            <a:off x="502920" y="2971800"/>
            <a:ext cx="35204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502920" y="297180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67512" y="301752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INPUT (Masukan)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40080" y="3410712"/>
            <a:ext cx="3246120" cy="2834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ID Pelanggan (id)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Nama Pelanggan (nama)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Pilihan Nomor Film 1-5 (pilih)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Lama Peminjaman Awal (lama)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Opsi Perpanjang y/n (jawab &amp; tambah)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Hari Pengembalian Film (hariKembali)</a:t>
            </a:r>
          </a:p>
        </p:txBody>
      </p:sp>
      <p:sp>
        <p:nvSpPr>
          <p:cNvPr id="18" name="Rect18"/>
          <p:cNvSpPr/>
          <p:nvPr/>
        </p:nvSpPr>
        <p:spPr>
          <a:xfrm>
            <a:off x="4279392" y="2971800"/>
            <a:ext cx="35204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9" name="Rect19"/>
          <p:cNvSpPr/>
          <p:nvPr/>
        </p:nvSpPr>
        <p:spPr>
          <a:xfrm>
            <a:off x="4279392" y="297180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20" name="TextBox20"/>
          <p:cNvSpPr txBox="1"/>
          <p:nvPr/>
        </p:nvSpPr>
        <p:spPr>
          <a:xfrm>
            <a:off x="4443984" y="301752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PROSES (Pengolahan)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4416552" y="3410712"/>
            <a:ext cx="3246120" cy="2834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Validasi nomor film &amp; cek STOK (do-while &amp; switch)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Menentukan judul &amp; harga film terpilih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Menambah lama pinjam jika diperpanjang (if)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Menghitung biaya = harga * lama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Cek hariKembali &gt; lama (if-else)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Hitung denda = (hariKembali - lama) * 2000</a:t>
            </a:r>
          </a:p>
        </p:txBody>
      </p:sp>
      <p:sp>
        <p:nvSpPr>
          <p:cNvPr id="22" name="Rect22"/>
          <p:cNvSpPr/>
          <p:nvPr/>
        </p:nvSpPr>
        <p:spPr>
          <a:xfrm>
            <a:off x="8046720" y="2971800"/>
            <a:ext cx="35204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23" name="Rect23"/>
          <p:cNvSpPr/>
          <p:nvPr/>
        </p:nvSpPr>
        <p:spPr>
          <a:xfrm>
            <a:off x="8046720" y="297180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</p:sp>
      <p:sp>
        <p:nvSpPr>
          <p:cNvPr id="24" name="TextBox24"/>
          <p:cNvSpPr txBox="1"/>
          <p:nvPr/>
        </p:nvSpPr>
        <p:spPr>
          <a:xfrm>
            <a:off x="8211312" y="301752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OUTPUT (Keluaran)</a:t>
            </a:r>
          </a:p>
        </p:txBody>
      </p:sp>
      <p:sp>
        <p:nvSpPr>
          <p:cNvPr id="25" name="TextBox25"/>
          <p:cNvSpPr txBox="1"/>
          <p:nvPr/>
        </p:nvSpPr>
        <p:spPr>
          <a:xfrm>
            <a:off x="8183880" y="3410712"/>
            <a:ext cx="3246120" cy="2834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Tabel Daftar Film (No, Nama, Biaya/Hari, Status)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Konfirmasi Film Terpilih &amp; Harga/Hari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Bukti Rental: ID / Nama Pelanggan, Judul Film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Lama Pinjam &amp; Hari Dikembalikan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Biaya Sewa, Denda, &amp; Total Bayar (biaya + denda)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Status Pengembalian (Tepat waktu / Terlambat)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ANALISIS &amp; PERANCANGAN: ALGORITMA / PSEUDOCODE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2.3 Algoritma Program Sistem Rental Film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5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Algoritma Bagian 1: Data Pelanggan &amp; Validasi Film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284C7"/>
                </a:solidFill>
                <a:latin typeface="Consolas"/>
                <a:cs typeface="Consolas"/>
              </a:rPr>
              <a:t>Mulai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id pelanggan dan nama pelanggan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Tampilkan tabel 5 film (JUDUL1..5, HARGA1..5, STOK1..5)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Ulangi (do-while !valid):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valid = 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Input pilih (nomor film 1-5)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Pilih kasus (switch pilih):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Kasus 1..5: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Jika STOK tersedia Maka: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  Salin judul film &amp; simpan harga; valid = 1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Jika tidak: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  Tampilkan 'Film sedang dipinjam, pilih yang lain!'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Default: Tampilkan 'Nomor tidak valid, ulangi!'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Selama valid == 0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617220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33679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Algoritma Bagian 2: Proses Sewa, Denda, &amp; Bukti Rental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Tampilkan judul film dan harga terpilih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lama peminjaman (hari)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jawab ('Perpanjang peminjaman? y/n')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Jika jawab == 'y' atau 'Y' Maka: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Input tambah hari; lama = lama + tambah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hariKembali ('Film dikembalikan pada hari ke-')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biaya = harga * lama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Jika hariKembali &gt; lama Maka: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denda = (hariKembali - lama) * 2000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status = 'Terlambat'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Selain itu: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denda = 0; status = 'Tepat waktu'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Tampilkan Bukti Rental (biaya, denda, total, status)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284C7"/>
                </a:solidFill>
                <a:latin typeface="Consolas"/>
                <a:cs typeface="Consolas"/>
              </a:rPr>
              <a:t>Selesai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ANALISIS &amp; PERANCANGAN: FLOWCHART PROGRAM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2.4 Alur: Mulai -&gt; Input -&gt; Validasi (do-while) -&gt; Perpanjangan -&gt; Perhitungan -&gt; Output -&gt; Selesai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6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50876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508760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554480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 MULAI &amp; INPUT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947672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Input ID (id) &amp;
Nama Pelanggan (nama);
Tampilkan Daftar 5 Film</a:t>
            </a:r>
          </a:p>
        </p:txBody>
      </p:sp>
      <p:sp>
        <p:nvSpPr>
          <p:cNvPr id="14" name="TextBox14"/>
          <p:cNvSpPr txBox="1"/>
          <p:nvPr/>
        </p:nvSpPr>
        <p:spPr>
          <a:xfrm>
            <a:off x="3063240" y="219456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lang="id-ID" sz="2000" b="1" i="0" dirty="0">
                <a:solidFill>
                  <a:srgbClr val="0284C7"/>
                </a:solidFill>
                <a:latin typeface="Calibri"/>
                <a:cs typeface="Calibri"/>
              </a:rPr>
              <a:t>➔</a:t>
            </a:r>
          </a:p>
        </p:txBody>
      </p:sp>
      <p:sp>
        <p:nvSpPr>
          <p:cNvPr id="15" name="Rect15"/>
          <p:cNvSpPr/>
          <p:nvPr/>
        </p:nvSpPr>
        <p:spPr>
          <a:xfrm>
            <a:off x="3337560" y="150876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6" name="Rect16"/>
          <p:cNvSpPr/>
          <p:nvPr/>
        </p:nvSpPr>
        <p:spPr>
          <a:xfrm>
            <a:off x="3337560" y="1508760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7" name="TextBox17"/>
          <p:cNvSpPr txBox="1"/>
          <p:nvPr/>
        </p:nvSpPr>
        <p:spPr>
          <a:xfrm>
            <a:off x="3502152" y="1554480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2. PILIH FILM</a:t>
            </a:r>
          </a:p>
        </p:txBody>
      </p:sp>
      <p:sp>
        <p:nvSpPr>
          <p:cNvPr id="18" name="TextBox18"/>
          <p:cNvSpPr txBox="1"/>
          <p:nvPr/>
        </p:nvSpPr>
        <p:spPr>
          <a:xfrm>
            <a:off x="3474720" y="1947672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Masukkan Nomor Film
(pilih 1-5) di dalam
perulangan do-while</a:t>
            </a:r>
          </a:p>
        </p:txBody>
      </p:sp>
      <p:sp>
        <p:nvSpPr>
          <p:cNvPr id="19" name="TextBox19"/>
          <p:cNvSpPr txBox="1"/>
          <p:nvPr/>
        </p:nvSpPr>
        <p:spPr>
          <a:xfrm>
            <a:off x="5897880" y="219456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lang="id-ID" sz="2000" b="1" i="0" dirty="0">
                <a:solidFill>
                  <a:srgbClr val="0284C7"/>
                </a:solidFill>
                <a:latin typeface="Calibri"/>
                <a:cs typeface="Calibri"/>
              </a:rPr>
              <a:t>➔</a:t>
            </a:r>
          </a:p>
        </p:txBody>
      </p:sp>
      <p:sp>
        <p:nvSpPr>
          <p:cNvPr id="20" name="Rect20"/>
          <p:cNvSpPr/>
          <p:nvPr/>
        </p:nvSpPr>
        <p:spPr>
          <a:xfrm>
            <a:off x="6172200" y="150876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21" name="Rect21"/>
          <p:cNvSpPr/>
          <p:nvPr/>
        </p:nvSpPr>
        <p:spPr>
          <a:xfrm>
            <a:off x="6172200" y="1508760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D97706"/>
          </a:solidFill>
          <a:ln>
            <a:noFill/>
          </a:ln>
        </p:spPr>
      </p:sp>
      <p:sp>
        <p:nvSpPr>
          <p:cNvPr id="22" name="TextBox22"/>
          <p:cNvSpPr txBox="1"/>
          <p:nvPr/>
        </p:nvSpPr>
        <p:spPr>
          <a:xfrm>
            <a:off x="6336792" y="1554480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 VALIDASI STOK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6309360" y="1947672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Cek switch(pilih) &amp; STOK:
Jika valid &amp; tersedia -&gt; Lanjut
Jika tidak -&gt; Ulangi input</a:t>
            </a:r>
          </a:p>
        </p:txBody>
      </p:sp>
      <p:sp>
        <p:nvSpPr>
          <p:cNvPr id="24" name="TextBox24"/>
          <p:cNvSpPr txBox="1"/>
          <p:nvPr/>
        </p:nvSpPr>
        <p:spPr>
          <a:xfrm>
            <a:off x="8732520" y="219456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lang="id-ID" sz="2000" b="1" i="0" dirty="0">
                <a:solidFill>
                  <a:srgbClr val="0284C7"/>
                </a:solidFill>
                <a:latin typeface="Calibri"/>
                <a:cs typeface="Calibri"/>
              </a:rPr>
              <a:t>➔</a:t>
            </a:r>
          </a:p>
        </p:txBody>
      </p:sp>
      <p:sp>
        <p:nvSpPr>
          <p:cNvPr id="25" name="Rect25"/>
          <p:cNvSpPr/>
          <p:nvPr/>
        </p:nvSpPr>
        <p:spPr>
          <a:xfrm>
            <a:off x="9006840" y="150876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26" name="Rect26"/>
          <p:cNvSpPr/>
          <p:nvPr/>
        </p:nvSpPr>
        <p:spPr>
          <a:xfrm>
            <a:off x="9006840" y="1508760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27" name="TextBox27"/>
          <p:cNvSpPr txBox="1"/>
          <p:nvPr/>
        </p:nvSpPr>
        <p:spPr>
          <a:xfrm>
            <a:off x="9171432" y="1554480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 LAMA PINJAM</a:t>
            </a:r>
          </a:p>
        </p:txBody>
      </p:sp>
      <p:sp>
        <p:nvSpPr>
          <p:cNvPr id="28" name="TextBox28"/>
          <p:cNvSpPr txBox="1"/>
          <p:nvPr/>
        </p:nvSpPr>
        <p:spPr>
          <a:xfrm>
            <a:off x="9144000" y="1947672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Input lama peminjaman;
Tanya Perpanjang? (y/n)
Jika 'y': lama += tambah</a:t>
            </a:r>
          </a:p>
        </p:txBody>
      </p:sp>
      <p:sp>
        <p:nvSpPr>
          <p:cNvPr id="29" name="TextBox29"/>
          <p:cNvSpPr txBox="1"/>
          <p:nvPr/>
        </p:nvSpPr>
        <p:spPr>
          <a:xfrm>
            <a:off x="9784080" y="3474720"/>
            <a:ext cx="10972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0284C7"/>
                </a:solidFill>
                <a:latin typeface="Calibri"/>
                <a:cs typeface="Calibri"/>
              </a:rPr>
              <a:t>⬇ Lanjut</a:t>
            </a:r>
          </a:p>
        </p:txBody>
      </p:sp>
      <p:sp>
        <p:nvSpPr>
          <p:cNvPr id="30" name="Rect30"/>
          <p:cNvSpPr/>
          <p:nvPr/>
        </p:nvSpPr>
        <p:spPr>
          <a:xfrm>
            <a:off x="502920" y="3977639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31" name="Rect31"/>
          <p:cNvSpPr/>
          <p:nvPr/>
        </p:nvSpPr>
        <p:spPr>
          <a:xfrm>
            <a:off x="502920" y="3977639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32" name="TextBox32"/>
          <p:cNvSpPr txBox="1"/>
          <p:nvPr/>
        </p:nvSpPr>
        <p:spPr>
          <a:xfrm>
            <a:off x="667512" y="4023359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5. HARI KEMBALI</a:t>
            </a:r>
          </a:p>
        </p:txBody>
      </p:sp>
      <p:sp>
        <p:nvSpPr>
          <p:cNvPr id="33" name="TextBox33"/>
          <p:cNvSpPr txBox="1"/>
          <p:nvPr/>
        </p:nvSpPr>
        <p:spPr>
          <a:xfrm>
            <a:off x="640080" y="4416551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Input hariKembali;
Hitung biaya = harga * lama</a:t>
            </a:r>
          </a:p>
        </p:txBody>
      </p:sp>
      <p:sp>
        <p:nvSpPr>
          <p:cNvPr id="34" name="TextBox34"/>
          <p:cNvSpPr txBox="1"/>
          <p:nvPr/>
        </p:nvSpPr>
        <p:spPr>
          <a:xfrm>
            <a:off x="3063240" y="4663439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lang="id-ID" sz="2000" b="1" i="0" dirty="0">
                <a:solidFill>
                  <a:srgbClr val="0284C7"/>
                </a:solidFill>
                <a:latin typeface="Calibri"/>
                <a:cs typeface="Calibri"/>
              </a:rPr>
              <a:t>➔</a:t>
            </a:r>
          </a:p>
        </p:txBody>
      </p:sp>
      <p:sp>
        <p:nvSpPr>
          <p:cNvPr id="35" name="Rect35"/>
          <p:cNvSpPr/>
          <p:nvPr/>
        </p:nvSpPr>
        <p:spPr>
          <a:xfrm>
            <a:off x="3337560" y="3977639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36" name="Rect36"/>
          <p:cNvSpPr/>
          <p:nvPr/>
        </p:nvSpPr>
        <p:spPr>
          <a:xfrm>
            <a:off x="3337560" y="3977639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DC2626"/>
          </a:solidFill>
          <a:ln>
            <a:noFill/>
          </a:ln>
        </p:spPr>
      </p:sp>
      <p:sp>
        <p:nvSpPr>
          <p:cNvPr id="37" name="TextBox37"/>
          <p:cNvSpPr txBox="1"/>
          <p:nvPr/>
        </p:nvSpPr>
        <p:spPr>
          <a:xfrm>
            <a:off x="3502152" y="4023359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6. CEK TERLAMBAT</a:t>
            </a:r>
          </a:p>
        </p:txBody>
      </p:sp>
      <p:sp>
        <p:nvSpPr>
          <p:cNvPr id="38" name="TextBox38"/>
          <p:cNvSpPr txBox="1"/>
          <p:nvPr/>
        </p:nvSpPr>
        <p:spPr>
          <a:xfrm>
            <a:off x="3474720" y="4416551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Apakah hariKembali &gt; lama?
Ya: denda=(hariKembali-lama)*2000
Tidak: denda = 0</a:t>
            </a:r>
          </a:p>
        </p:txBody>
      </p:sp>
      <p:sp>
        <p:nvSpPr>
          <p:cNvPr id="39" name="TextBox39"/>
          <p:cNvSpPr txBox="1"/>
          <p:nvPr/>
        </p:nvSpPr>
        <p:spPr>
          <a:xfrm>
            <a:off x="5897880" y="4663439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lang="id-ID" sz="2000" b="1" i="0" dirty="0">
                <a:solidFill>
                  <a:srgbClr val="0284C7"/>
                </a:solidFill>
                <a:latin typeface="Calibri"/>
                <a:cs typeface="Calibri"/>
              </a:rPr>
              <a:t>➔</a:t>
            </a:r>
          </a:p>
        </p:txBody>
      </p:sp>
      <p:sp>
        <p:nvSpPr>
          <p:cNvPr id="40" name="Rect40"/>
          <p:cNvSpPr/>
          <p:nvPr/>
        </p:nvSpPr>
        <p:spPr>
          <a:xfrm>
            <a:off x="6172200" y="3977639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41" name="Rect41"/>
          <p:cNvSpPr/>
          <p:nvPr/>
        </p:nvSpPr>
        <p:spPr>
          <a:xfrm>
            <a:off x="6172200" y="3977639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</p:sp>
      <p:sp>
        <p:nvSpPr>
          <p:cNvPr id="42" name="TextBox42"/>
          <p:cNvSpPr txBox="1"/>
          <p:nvPr/>
        </p:nvSpPr>
        <p:spPr>
          <a:xfrm>
            <a:off x="6336792" y="4023359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7. STATUS KEMBALI</a:t>
            </a:r>
          </a:p>
        </p:txBody>
      </p:sp>
      <p:sp>
        <p:nvSpPr>
          <p:cNvPr id="43" name="TextBox43"/>
          <p:cNvSpPr txBox="1"/>
          <p:nvPr/>
        </p:nvSpPr>
        <p:spPr>
          <a:xfrm>
            <a:off x="6309360" y="4416551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Ya -&gt; status = 'Terlambat'
Tidak -&gt; status = 'Tepat waktu'
Hitung Total = biaya + denda</a:t>
            </a:r>
          </a:p>
        </p:txBody>
      </p:sp>
      <p:sp>
        <p:nvSpPr>
          <p:cNvPr id="44" name="TextBox44"/>
          <p:cNvSpPr txBox="1"/>
          <p:nvPr/>
        </p:nvSpPr>
        <p:spPr>
          <a:xfrm>
            <a:off x="8732520" y="4663439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lang="id-ID" sz="2000" b="1" i="0" dirty="0">
                <a:solidFill>
                  <a:srgbClr val="0284C7"/>
                </a:solidFill>
                <a:latin typeface="Calibri"/>
                <a:cs typeface="Calibri"/>
              </a:rPr>
              <a:t>➔</a:t>
            </a:r>
          </a:p>
        </p:txBody>
      </p:sp>
      <p:sp>
        <p:nvSpPr>
          <p:cNvPr id="45" name="Rect45"/>
          <p:cNvSpPr/>
          <p:nvPr/>
        </p:nvSpPr>
        <p:spPr>
          <a:xfrm>
            <a:off x="9006840" y="3977639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46" name="Rect46"/>
          <p:cNvSpPr/>
          <p:nvPr/>
        </p:nvSpPr>
        <p:spPr>
          <a:xfrm>
            <a:off x="9006840" y="3977639"/>
            <a:ext cx="256032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47" name="TextBox47"/>
          <p:cNvSpPr txBox="1"/>
          <p:nvPr/>
        </p:nvSpPr>
        <p:spPr>
          <a:xfrm>
            <a:off x="9171432" y="4023359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8. BUKTI &amp; SELESAI</a:t>
            </a:r>
          </a:p>
        </p:txBody>
      </p:sp>
      <p:sp>
        <p:nvSpPr>
          <p:cNvPr id="48" name="TextBox48"/>
          <p:cNvSpPr txBox="1"/>
          <p:nvPr/>
        </p:nvSpPr>
        <p:spPr>
          <a:xfrm>
            <a:off x="9144000" y="4416551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400"/>
              </a:spcAft>
              <a:buNone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Cetak BUKTI RENTAL
lengkap ke layar
-&gt; SELESAI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IMPLEMENTASI: LINGKUNGAN &amp; STRUKTUR PROGRAM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3.1 Lingkungan Pengembangan &amp; 3.2 Struktur Program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7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49377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325880"/>
            <a:ext cx="493776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71600"/>
            <a:ext cx="46085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3.1 Lingkungan Pengembangan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46634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Bahasa Pemrograman : Bahasa C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Compiler / IDE     : GCC (MinGW) / Visual Studio Code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Sistem Operasi     : Microsoft Windows 10 / 11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Header Library     : &lt;stdio.h&gt; dan &lt;string.h&gt;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Konstanta Makro    : #define JUDUL1..5, HARGA1..5, STOK1..5, DENDA_PER_HARI 2000</a:t>
            </a:r>
          </a:p>
        </p:txBody>
      </p:sp>
      <p:sp>
        <p:nvSpPr>
          <p:cNvPr id="14" name="Rect14"/>
          <p:cNvSpPr/>
          <p:nvPr/>
        </p:nvSpPr>
        <p:spPr>
          <a:xfrm>
            <a:off x="5715000" y="1325880"/>
            <a:ext cx="58521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5715000" y="1325880"/>
            <a:ext cx="58521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5879592" y="1371600"/>
            <a:ext cx="55229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3.2 Struktur Bagian Utama Program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5852160" y="1764792"/>
            <a:ext cx="55778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1. Definisi Data Film (#define): Menyimpan judul, harga sewa, dan status stok 5 film serta tarif denda Rp2.000/hari.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2. Bagian Input Pelanggan (Mahasiswa 1): Menerima input ID pelanggan (int) dan Nama pelanggan (char[]).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3. Bagian Daftar &amp; Validasi Film (Mahasiswa 1): Menampilkan tabel 5 film dan memvalidasi pilihan dengan do-while &amp; switch-case.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4. Bagian Lama Sewa &amp; Perpanjangan (Mahasiswa 2): Menerima lama pinjam dan opsi perpanjangan durasi (if jawab == 'y').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5. Bagian Perhitungan Biaya &amp; Denda (Mahasiswa 2): Menghitung biaya sewa dan mengecek keterlambatan (if-else hariKembali &gt; lama).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6. Bagian Output Bukti Rental (Mahasiswa 3): Menampilkan struk bukti rental lengkap beserta total bayar dan status.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IMPLEMENTASI: CUPLIKAN &amp; PENJELASAN SOURCE CODE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3.3 Source Code Inti &amp; 3.4 Penjelasan Struktur Kontrol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8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5577840" cy="4983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298448"/>
            <a:ext cx="557784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44168"/>
            <a:ext cx="52486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3.3 Cuplikan Kode Inti (rental_film.c)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530352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059669"/>
                </a:solidFill>
                <a:latin typeface="Consolas"/>
                <a:cs typeface="Consolas"/>
              </a:rPr>
              <a:t>/* Validasi pilihan film (do-while &amp; switch) */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do {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valid = 0;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printf("\nPilih nomor film (1-5): ");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scanf("%d", &amp;pilih);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switch (pilih) {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case 1: if (STOK1) { strcpy(judul, JUDUL1);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        harga = HARGA1; valid = 1; }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        else printf("Film sedang dipinjam!\n"); break;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/* ... case 2 s/d 5 ... */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Aft>
                <a:spcPts val="6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} while (!valid);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059669"/>
                </a:solidFill>
                <a:latin typeface="Consolas"/>
                <a:cs typeface="Consolas"/>
              </a:rPr>
              <a:t>/* Perhitungan biaya &amp; denda (if-else) */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biaya = harga * lama;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if (hariKembali &gt; lama) {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denda = (hariKembali - lama) * DENDA_PER_HARI;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strcpy(status, "Terlambat");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} else { denda = 0; strcpy(status, "Tepat waktu"); }</a:t>
            </a:r>
          </a:p>
        </p:txBody>
      </p:sp>
      <p:sp>
        <p:nvSpPr>
          <p:cNvPr id="14" name="Rect14"/>
          <p:cNvSpPr/>
          <p:nvPr/>
        </p:nvSpPr>
        <p:spPr>
          <a:xfrm>
            <a:off x="6263640" y="1298448"/>
            <a:ext cx="5303520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6263640" y="1298448"/>
            <a:ext cx="530352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428232" y="1344168"/>
            <a:ext cx="49743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3.4 Penjelasan Komponen Kode Program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400800" y="1737360"/>
            <a:ext cx="502920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 : Mengecek apakah pelanggan ingin memperpanjang lama peminjaman (jawab == 'y' || jawab == 'Y').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if-else : Mengecek ketersediaan stok film (STOK1..5) serta menentukan apakah pengembalian Terlambat (hariKembali &gt; lama) atau Tepat waktu.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switch-case : Memilih data film ke-1 sampai ke-5 berdasarkan nomor yang diinput pelanggan.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do-while : Mengulang input pemilihan film selama pilihan tidak valid atau film sedang dipinjam (!valid).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Variabel &amp; Operator : Menggunakan tipe int dan char[]; operator aritmatika (*, +, -, +=), relasional (&gt;), logika (||, !), dan ternary (?:).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Input / Output : Menggunakan printf(), scanf(), dan strcpy().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IV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PEMBAGIAN KONTRIBUSI ANGGOTA KELOMPOK 3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4.1 Mahasiswa 1, 4.2 Mahasiswa 2, dan 4.3 Mahasiswa 3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9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32588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7160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4.1 Mahasiswa 1 — Data &amp; Film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324612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Nama / NRP : ................................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Tugas: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ID dan nama pelanggan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daftar 5 pilihan film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&amp; validasi pilihan film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Menggunakan perulangan do-while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Bagian Kode: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Konstanta #define JUDUL1..5, HARGA1..5, STOK1..5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id &amp; nama pelanggan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Tabel daftar film &amp; blok do-while + switch(pilih)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Integrasi: Menyediakan variabel judul &amp; harga film terpilih untuk Mahasiswa 2.</a:t>
            </a:r>
          </a:p>
        </p:txBody>
      </p:sp>
      <p:sp>
        <p:nvSpPr>
          <p:cNvPr id="14" name="Rect14"/>
          <p:cNvSpPr/>
          <p:nvPr/>
        </p:nvSpPr>
        <p:spPr>
          <a:xfrm>
            <a:off x="4279392" y="132588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4279392" y="132588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4443984" y="137160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4.2 Mahasiswa 2 — Sewa &amp; Denda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4416552" y="1764792"/>
            <a:ext cx="324612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Nama / NRP : ................................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Tugas: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Menentukan biaya sewa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Menghitung lama peminjaman &amp; perpanjangan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Menghitung denda keterlambatan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Menentukan status pengembalian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Bagian Kode: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lama &amp; perpanjangan (if jawab == 'y')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hariKembali &amp; hitung biaya = harga * lama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Blok if-else (hariKembali &gt; lama) untuk denda &amp; status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Integrasi: Menghasilkan nilai biaya, denda, &amp; status untuk Mahasiswa 3.</a:t>
            </a:r>
          </a:p>
        </p:txBody>
      </p:sp>
      <p:sp>
        <p:nvSpPr>
          <p:cNvPr id="18" name="Rect18"/>
          <p:cNvSpPr/>
          <p:nvPr/>
        </p:nvSpPr>
        <p:spPr>
          <a:xfrm>
            <a:off x="8046720" y="132588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9" name="Rect19"/>
          <p:cNvSpPr/>
          <p:nvPr/>
        </p:nvSpPr>
        <p:spPr>
          <a:xfrm>
            <a:off x="8046720" y="132588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</p:sp>
      <p:sp>
        <p:nvSpPr>
          <p:cNvPr id="20" name="TextBox20"/>
          <p:cNvSpPr txBox="1"/>
          <p:nvPr/>
        </p:nvSpPr>
        <p:spPr>
          <a:xfrm>
            <a:off x="8211312" y="137160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4.3 Mahasiswa 3 — Transaksi &amp; Uji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8183880" y="1764792"/>
            <a:ext cx="324612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Nama / NRP : ................................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Tugas: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bukti rental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biaya, denda, &amp; total bayar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status film / pengembalian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Menguji tepat waktu &amp; terlambat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Bagian Kode: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Blok pencetakan BUKTI RENTAL lengkap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Integrasi variabel dari Mahasiswa 1 &amp; 2 di main()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Pengujian 5 skenario input &amp; batas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Integrasi: Menyatukan seluruh bagian kode menjadi satu program utuh.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PENGUJIAN PROGRAM: 5 SKENARIO PENGUJIAN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5.1 Tabel Skenario Pengujian Program Rental Film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10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8016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28016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059669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594360" y="137160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1. Peminjaman Tepat Waktu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3246120" y="135331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Film = 1 (Avengers Rp5000), Lama = 3 hari, Perpanjang = n, Kembali = hari ke-3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Biaya Rp15000, Denda Rp0, Total Rp15000, Status: Tepat waktu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Biaya Rp15000, Denda Rp0, Total Rp15000, Status: Tepat waktu  [BERHASIL]</a:t>
            </a:r>
          </a:p>
        </p:txBody>
      </p:sp>
      <p:sp>
        <p:nvSpPr>
          <p:cNvPr id="14" name="Rect14"/>
          <p:cNvSpPr/>
          <p:nvPr/>
        </p:nvSpPr>
        <p:spPr>
          <a:xfrm>
            <a:off x="502920" y="228600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502920" y="228600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594360" y="237744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2. Pilihan Nomor Tidak Valid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3246120" y="235915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Nomor Film = 9 (di luar rentang 1-5)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Muncul pesan 'Nomor tidak valid, ulangi!' dan meminta input ulang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Muncul 'Nomor tidak valid, ulangi!' dan do-while mengulang input  [BERHASIL]</a:t>
            </a:r>
          </a:p>
        </p:txBody>
      </p:sp>
      <p:sp>
        <p:nvSpPr>
          <p:cNvPr id="18" name="Rect18"/>
          <p:cNvSpPr/>
          <p:nvPr/>
        </p:nvSpPr>
        <p:spPr>
          <a:xfrm>
            <a:off x="502920" y="329184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9" name="Rect19"/>
          <p:cNvSpPr/>
          <p:nvPr/>
        </p:nvSpPr>
        <p:spPr>
          <a:xfrm>
            <a:off x="502920" y="329184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D97706"/>
          </a:solidFill>
          <a:ln>
            <a:noFill/>
          </a:ln>
        </p:spPr>
      </p:sp>
      <p:sp>
        <p:nvSpPr>
          <p:cNvPr id="20" name="TextBox20"/>
          <p:cNvSpPr txBox="1"/>
          <p:nvPr/>
        </p:nvSpPr>
        <p:spPr>
          <a:xfrm>
            <a:off x="594360" y="338328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3. Pilih Film Sedang Dipinjam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3246120" y="336499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Nomor Film = 3 (Interstellar, STOK3 = 0 / Dipinjam)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Ditolak dengan pesan 'Film sedang dipinjam, pilih yang lain!'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Pesan tampil dan pengguna diminta memilih film lain  [BERHASIL]</a:t>
            </a:r>
          </a:p>
        </p:txBody>
      </p:sp>
      <p:sp>
        <p:nvSpPr>
          <p:cNvPr id="22" name="Rect22"/>
          <p:cNvSpPr/>
          <p:nvPr/>
        </p:nvSpPr>
        <p:spPr>
          <a:xfrm>
            <a:off x="502920" y="429768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23" name="Rect23"/>
          <p:cNvSpPr/>
          <p:nvPr/>
        </p:nvSpPr>
        <p:spPr>
          <a:xfrm>
            <a:off x="502920" y="429768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24" name="TextBox24"/>
          <p:cNvSpPr txBox="1"/>
          <p:nvPr/>
        </p:nvSpPr>
        <p:spPr>
          <a:xfrm>
            <a:off x="594360" y="438912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4. Perpanjangan Masa Sewa</a:t>
            </a:r>
          </a:p>
        </p:txBody>
      </p:sp>
      <p:sp>
        <p:nvSpPr>
          <p:cNvPr id="25" name="TextBox25"/>
          <p:cNvSpPr txBox="1"/>
          <p:nvPr/>
        </p:nvSpPr>
        <p:spPr>
          <a:xfrm>
            <a:off x="3246120" y="437083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Film = 2 (Rp6000), Lama awal = 2 hari, Perpanjang = y (+2 hari), Kembali = hari ke-4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Lama pinjam jadi 4 hari, Biaya Rp24000, Denda Rp0, Status: Tepat waktu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Lama pinjam 4 hari, Biaya Rp24000, Denda Rp0, Tepat waktu  [BERHASIL]</a:t>
            </a:r>
          </a:p>
        </p:txBody>
      </p:sp>
      <p:sp>
        <p:nvSpPr>
          <p:cNvPr id="26" name="Rect26"/>
          <p:cNvSpPr/>
          <p:nvPr/>
        </p:nvSpPr>
        <p:spPr>
          <a:xfrm>
            <a:off x="502920" y="530352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27" name="Rect27"/>
          <p:cNvSpPr/>
          <p:nvPr/>
        </p:nvSpPr>
        <p:spPr>
          <a:xfrm>
            <a:off x="502920" y="530352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</p:spPr>
      </p:sp>
      <p:sp>
        <p:nvSpPr>
          <p:cNvPr id="28" name="TextBox28"/>
          <p:cNvSpPr txBox="1"/>
          <p:nvPr/>
        </p:nvSpPr>
        <p:spPr>
          <a:xfrm>
            <a:off x="594360" y="539496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5. Pengembalian Terlambat</a:t>
            </a:r>
          </a:p>
        </p:txBody>
      </p:sp>
      <p:sp>
        <p:nvSpPr>
          <p:cNvPr id="29" name="TextBox29"/>
          <p:cNvSpPr txBox="1"/>
          <p:nvPr/>
        </p:nvSpPr>
        <p:spPr>
          <a:xfrm>
            <a:off x="3246120" y="537667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Film = 5 (Inception Rp6500), Lama = 2 hari, Perpanjang = n, Kembali = hari ke-5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Terlambat 3 hari -&gt; Denda Rp6000, Biaya Rp13000, Total Rp19000, Terlambat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Biaya Rp13000, Denda Rp6000, Total Rp19000, Status: Terlambat  [BERHASIL]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BUKTI PENGUJIAN: OUTPUT TEPAT WAKTU &amp; TERLAMBAT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5.2 Hasil Running Program rental_film.c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11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Pengujian 1 — Peminjaman Tepat Waktu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ID pelanggan   : 101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nama pelanggan : Budi Santoso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Pilih nomor film (1-5)  : 1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38BDF8"/>
                </a:solidFill>
                <a:latin typeface="Consolas"/>
                <a:cs typeface="Consolas"/>
              </a:rPr>
              <a:t>Anda memilih: Avengers: Endgame (Rp5000/hari)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Lama peminjaman (hari)  : 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Perpanjang peminjaman? (y/n): n</a:t>
            </a:r>
          </a:p>
          <a:p>
            <a:pPr algn="l">
              <a:spcAft>
                <a:spcPts val="6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Film dikembalikan pada hari ke-: 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4ADE80"/>
                </a:solidFill>
                <a:latin typeface="Consolas"/>
                <a:cs typeface="Consolas"/>
              </a:rPr>
              <a:t>========== BUKTI RENTAL ==========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ID / Nama    : 101 / Budi Santoso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Film         : Avengers: Endgame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Biaya/hari   : Rp5000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Lama pinjam  : 3 hari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Dikembalikan : hari ke-3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 sewa   : Rp15000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Denda        : Rp0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4ADE80"/>
                </a:solidFill>
                <a:latin typeface="Consolas"/>
                <a:cs typeface="Consolas"/>
              </a:rPr>
              <a:t>Total bayar  : Rp15000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4ADE80"/>
                </a:solidFill>
                <a:latin typeface="Consolas"/>
                <a:cs typeface="Consolas"/>
              </a:rPr>
              <a:t>Status       : Tepat waktu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ADE80"/>
                </a:solidFill>
                <a:latin typeface="Consolas"/>
                <a:cs typeface="Consolas"/>
              </a:rPr>
              <a:t>==================================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617220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DC2626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33679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Pengujian 2 — Validasi Stok &amp; Pengembalian Terlambat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ID pelanggan   : 102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nama pelanggan : Siti Aminah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Pilih nomor film (1-5)  : 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87171"/>
                </a:solidFill>
                <a:latin typeface="Consolas"/>
                <a:cs typeface="Consolas"/>
              </a:rPr>
              <a:t>Film sedang dipinjam, pilih yang lain!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Pilih nomor film (1-5)  : 5</a:t>
            </a:r>
          </a:p>
          <a:p>
            <a:pPr algn="l">
              <a:spcAft>
                <a:spcPts val="6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Lama peminjaman: 2 | Perpanjang: n | Kembali: hari ke-5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F87171"/>
                </a:solidFill>
                <a:latin typeface="Consolas"/>
                <a:cs typeface="Consolas"/>
              </a:rPr>
              <a:t>========== BUKTI RENTAL ==========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ID / Nama    : 102 / Siti Aminah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Film         : Inception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Biaya/hari   : Rp6500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Lama pinjam  : 2 hari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CA5A5"/>
                </a:solidFill>
                <a:latin typeface="Consolas"/>
                <a:cs typeface="Consolas"/>
              </a:rPr>
              <a:t>Dikembalikan : hari ke-5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 sewa   : Rp13000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CA5A5"/>
                </a:solidFill>
                <a:latin typeface="Consolas"/>
                <a:cs typeface="Consolas"/>
              </a:rPr>
              <a:t>Denda        : Rp6000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FBBF24"/>
                </a:solidFill>
                <a:latin typeface="Consolas"/>
                <a:cs typeface="Consolas"/>
              </a:rPr>
              <a:t>Total bayar  : Rp19000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F87171"/>
                </a:solidFill>
                <a:latin typeface="Consolas"/>
                <a:cs typeface="Consolas"/>
              </a:rPr>
              <a:t>Status       : Terlambat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87171"/>
                </a:solidFill>
                <a:latin typeface="Consolas"/>
                <a:cs typeface="Consolas"/>
              </a:rPr>
              <a:t>==================================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HASIL DAN PEMBAHASAN: STRUKTUR KONTROL &amp; SOLUSI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6.1 Hasil Program, 6.2 Penerapan Struktur Kontrol, &amp; 6.3 Kendala dan Solusi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12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6.1 Hasil &amp; 6.2 Penerapan Struktur Kontrol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Hasil Program: Program berhasil memvalidasi pilihan film, menghitung perpanjangan sewa, menghitung denda keterlambatan, dan menampilkan bukti rental.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 : Mengecek apakah pengguna memilih perpanjangan sewa (jawab == 'y' || jawab == 'Y').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if-else : Mengecek stok film (STOK1..5) serta menentukan denda dan status ('Terlambat' vs 'Tepat waktu').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switch-case : Memilih film ke-1 s/d ke-5 berdasarkan input pengguna.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do-while : Mengulang input pilihan film selama nomor tidak valid atau film sedang dipinjam (!valid).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6.3 Kendala dan Solusi Selama Pengerjaan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Kendala 1: Pengguna memilih nomor film di luar 1-5 atau film yang sedang dipinjam (STOK = 0).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Solusi 1 : Menggunakan perulangan do-while dengan variabel penanda valid dan percabangan switch-case.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Kendala 2: Menyimpan data 5 film tanpa menggunakan array maupun struct.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Solusi 2 : Mendefinisikan konstanta makro #define JUDUL1..5, HARGA1..5, dan STOK1..5 di bagian atas program.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Kendala 3: Membaca nama pelanggan yang mengandung spasi menggunakan scanf.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Solusi 3 : Menggunakan format spesifikasi scanf(" %[^\n]", nama) agar spasi ikut terbaca.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KESIMPULAN, SARAN PENGEMBANGAN &amp; REFERENSI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7.1 Kesimpulan, 7.2 Saran Pengembangan, &amp; Daftar Pustaka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13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7.1 Kesimpulan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2514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Seluruh tujuan mini project telah tercapai.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Program Sistem Rental Film berhasil dibangun menggunakan bahasa C dengan menerapkan do-while, switch-case, if, dan if-else tanpa menggunakan array data, struct, maupun pointer.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Program berhasil memvalidasi pilihan film, menghitung biaya sewa dan denda keterlambatan, serta menampilkan bukti rental dengan tepat.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7.2 Saran Pengembangan (Tahap Berikutnya)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2514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Pada tahap selanjutnya, program dapat dikembangkan untuk menyimpan banyak data film dan pelanggan menggunakan ARRAY.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Data pelanggan, film, dan transaksi dapat dikelompokkan menggunakan STRUCT.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Manipulasi dan pengelolaan data selanjutnya dapat dioptimalkan menggunakan POINTER.</a:t>
            </a:r>
          </a:p>
        </p:txBody>
      </p:sp>
      <p:sp>
        <p:nvSpPr>
          <p:cNvPr id="18" name="Rect18"/>
          <p:cNvSpPr/>
          <p:nvPr/>
        </p:nvSpPr>
        <p:spPr>
          <a:xfrm>
            <a:off x="502920" y="4526280"/>
            <a:ext cx="1106424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19" name="Rect19"/>
          <p:cNvSpPr/>
          <p:nvPr/>
        </p:nvSpPr>
        <p:spPr>
          <a:xfrm>
            <a:off x="502920" y="4526280"/>
            <a:ext cx="1106424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20" name="TextBox20"/>
          <p:cNvSpPr txBox="1"/>
          <p:nvPr/>
        </p:nvSpPr>
        <p:spPr>
          <a:xfrm>
            <a:off x="667512" y="4572000"/>
            <a:ext cx="10735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Daftar Pustaka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640080" y="4965192"/>
            <a:ext cx="1078992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1. Kernighan, B. W., &amp; Ritchie, D. M. (1988). The C Programming Language (2nd ed.). Prentice Hall.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2. Modul Praktikum &amp; Materi Kuliah Pemrograman Dasar Tahun 2026.</a:t>
            </a:r>
          </a:p>
          <a:p>
            <a:pPr algn="l" marL="228600" indent="-228600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3. Dokumentasi C Standard Library (&lt;stdio.h&gt; &amp; &lt;string.h&gt;) — https://en.cppreference.com/w/c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059669"/>
      </a:accent2>
      <a:accent3>
        <a:srgbClr val="7C3AED"/>
      </a:accent3>
      <a:accent4>
        <a:srgbClr val="D97706"/>
      </a:accent4>
      <a:accent5>
        <a:srgbClr val="DC2626"/>
      </a:accent5>
      <a:accent6>
        <a:srgbClr val="38BDF8"/>
      </a:accent6>
      <a:hlink>
        <a:srgbClr val="0284C7"/>
      </a:hlink>
      <a:folHlink>
        <a:srgbClr val="7C3AED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