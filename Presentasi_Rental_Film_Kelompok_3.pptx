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9" autoAdjust="0"/>
    <p:restoredTop sz="94660"/>
  </p:normalViewPr>
  <p:slideViewPr>
    <p:cSldViewPr snapToGrid="0">
      <p:cViewPr varScale="1">
        <p:scale>
          <a:sx n="79" d="100"/>
          <a:sy n="79" d="100"/>
        </p:scale>
        <p:origin x="85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3"/>
          <p:cNvSpPr/>
          <p:nvPr/>
        </p:nvSpPr>
        <p:spPr>
          <a:xfrm>
            <a:off x="320040" y="0"/>
            <a:ext cx="109728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Box4"/>
          <p:cNvSpPr txBox="1"/>
          <p:nvPr/>
        </p:nvSpPr>
        <p:spPr>
          <a:xfrm>
            <a:off x="914400" y="685800"/>
            <a:ext cx="4114800" cy="384048"/>
          </a:xfrm>
          <a:prstGeom prst="roundRect">
            <a:avLst>
              <a:gd name="adj" fmla="val 20000"/>
            </a:avLst>
          </a:prstGeom>
          <a:solidFill>
            <a:srgbClr val="38BDF8"/>
          </a:solidFill>
          <a:ln>
            <a:noFill/>
          </a:ln>
        </p:spPr>
        <p:txBody>
          <a:bodyPr wrap="square" lIns="91440" tIns="68580" rIns="91440" bIns="68580" anchor="ctr"/>
          <a:lstStyle/>
          <a:p>
            <a:pPr algn="ctr">
              <a:spcAft>
                <a:spcPts val="400"/>
              </a:spcAft>
              <a:buNone/>
            </a:pPr>
            <a:r>
              <a:rPr lang="id-ID" sz="1200" b="1" i="0" dirty="0">
                <a:solidFill>
                  <a:srgbClr val="0F172A"/>
                </a:solidFill>
                <a:latin typeface="Calibri"/>
                <a:cs typeface="Calibri"/>
              </a:rPr>
              <a:t>LAPORAN MINI PROJECT PEMROGRAMAN DASAR</a:t>
            </a:r>
          </a:p>
        </p:txBody>
      </p:sp>
      <p:sp>
        <p:nvSpPr>
          <p:cNvPr id="5" name="TextBox5"/>
          <p:cNvSpPr txBox="1"/>
          <p:nvPr/>
        </p:nvSpPr>
        <p:spPr>
          <a:xfrm>
            <a:off x="914400" y="1234440"/>
            <a:ext cx="10241280" cy="12801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600"/>
              </a:spcAft>
              <a:buNone/>
            </a:pPr>
            <a:r>
              <a:rPr lang="id-ID" sz="4000" b="1" i="0" dirty="0">
                <a:solidFill>
                  <a:srgbClr val="FFFFFF"/>
                </a:solidFill>
                <a:latin typeface="Calibri"/>
                <a:cs typeface="Calibri"/>
              </a:rPr>
              <a:t>SISTEM RENTAL FILM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500" b="0" i="0" dirty="0">
                <a:solidFill>
                  <a:srgbClr val="94A3B8"/>
                </a:solidFill>
                <a:latin typeface="Calibri"/>
                <a:cs typeface="Calibri"/>
              </a:rPr>
              <a:t>Implementasi Bahasa C Menggunakan do-while, switch-case, dan if-else (Tanpa Array Data, Struct, &amp; Pointer)</a:t>
            </a:r>
          </a:p>
        </p:txBody>
      </p:sp>
      <p:sp>
        <p:nvSpPr>
          <p:cNvPr id="6" name="Rect6"/>
          <p:cNvSpPr/>
          <p:nvPr/>
        </p:nvSpPr>
        <p:spPr>
          <a:xfrm>
            <a:off x="914400" y="2651760"/>
            <a:ext cx="6217920" cy="32918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TextBox7"/>
          <p:cNvSpPr txBox="1"/>
          <p:nvPr/>
        </p:nvSpPr>
        <p:spPr>
          <a:xfrm>
            <a:off x="1143000" y="2834640"/>
            <a:ext cx="5760720" cy="3017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1000"/>
              </a:spcAft>
              <a:buNone/>
            </a:pPr>
            <a:r>
              <a:rPr lang="id-ID" sz="1500" b="1" i="0" dirty="0">
                <a:solidFill>
                  <a:srgbClr val="38BDF8"/>
                </a:solidFill>
                <a:latin typeface="Calibri"/>
                <a:cs typeface="Calibri"/>
              </a:rPr>
              <a:t>KELOMPOK 3 — PEMBAGIAN ANGGOTA</a:t>
            </a:r>
          </a:p>
          <a:p>
            <a:pPr algn="l">
              <a:spcAft>
                <a:spcPts val="2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1. </a:t>
            </a:r>
            <a:r>
              <a:rPr lang="en-US" sz="1300" b="1" i="0" dirty="0">
                <a:solidFill>
                  <a:srgbClr val="FFFFFF"/>
                </a:solidFill>
                <a:latin typeface="Calibri"/>
                <a:cs typeface="Calibri"/>
              </a:rPr>
              <a:t>Andra Bima Ananta</a:t>
            </a: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 (NRP:</a:t>
            </a:r>
            <a:r>
              <a:rPr lang="en-US" sz="1300" b="1" i="0" dirty="0">
                <a:solidFill>
                  <a:srgbClr val="FFFFFF"/>
                </a:solidFill>
                <a:latin typeface="Calibri"/>
                <a:cs typeface="Calibri"/>
              </a:rPr>
              <a:t> 3226600064</a:t>
            </a: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) — Data Pelanggan &amp; Film</a:t>
            </a:r>
          </a:p>
          <a:p>
            <a:pPr algn="l">
              <a:spcAft>
                <a:spcPts val="800"/>
              </a:spcAft>
              <a:buNone/>
            </a:pPr>
            <a:r>
              <a:rPr lang="id-ID" sz="1100" b="0" i="0" dirty="0">
                <a:solidFill>
                  <a:srgbClr val="CBD5E1"/>
                </a:solidFill>
                <a:latin typeface="Calibri"/>
                <a:cs typeface="Calibri"/>
              </a:rPr>
              <a:t>    Input ID &amp; nama pelanggan, daftar 5 film, validasi pilihan film (do-while &amp; switch)</a:t>
            </a:r>
          </a:p>
          <a:p>
            <a:pPr>
              <a:spcAft>
                <a:spcPts val="200"/>
              </a:spcAft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2. </a:t>
            </a:r>
            <a:r>
              <a:rPr lang="en-US" sz="1300" b="1" i="0" dirty="0">
                <a:solidFill>
                  <a:srgbClr val="FFFFFF"/>
                </a:solidFill>
                <a:latin typeface="Calibri"/>
                <a:cs typeface="Calibri"/>
              </a:rPr>
              <a:t>Bayu Arga Pratama </a:t>
            </a:r>
            <a:r>
              <a:rPr lang="en-US" sz="1300" b="1" dirty="0">
                <a:solidFill>
                  <a:srgbClr val="FFFFFF"/>
                </a:solidFill>
                <a:latin typeface="Calibri"/>
                <a:cs typeface="Calibri"/>
              </a:rPr>
              <a:t>Rinaldi </a:t>
            </a: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(NRP: </a:t>
            </a:r>
            <a:r>
              <a:rPr lang="en-US" sz="1300" b="1" dirty="0">
                <a:solidFill>
                  <a:srgbClr val="FFFFFF"/>
                </a:solidFill>
                <a:cs typeface="Calibri"/>
              </a:rPr>
              <a:t>3226600066</a:t>
            </a: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) — Proses Sewa &amp; Denda</a:t>
            </a:r>
          </a:p>
          <a:p>
            <a:pPr algn="l">
              <a:spcAft>
                <a:spcPts val="800"/>
              </a:spcAft>
              <a:buNone/>
            </a:pPr>
            <a:r>
              <a:rPr lang="id-ID" sz="1100" b="0" i="0" dirty="0">
                <a:solidFill>
                  <a:srgbClr val="CBD5E1"/>
                </a:solidFill>
                <a:latin typeface="Calibri"/>
                <a:cs typeface="Calibri"/>
              </a:rPr>
              <a:t>    Input lama pinjam, opsi perpanjangan (y/n), hitung biaya sewa, denda &amp; status (if-else)</a:t>
            </a:r>
          </a:p>
          <a:p>
            <a:pPr algn="l">
              <a:spcAft>
                <a:spcPts val="2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3. Asyraf Rakha Widodo(NRP: 3226600077</a:t>
            </a:r>
            <a:r>
              <a:rPr lang="en-US" sz="1300" b="1" i="0" dirty="0">
                <a:solidFill>
                  <a:srgbClr val="FFFFFF"/>
                </a:solidFill>
                <a:latin typeface="Calibri"/>
                <a:cs typeface="Calibri"/>
              </a:rPr>
              <a:t>)</a:t>
            </a: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— Transaksi &amp; Pengujian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CBD5E1"/>
                </a:solidFill>
                <a:latin typeface="Calibri"/>
                <a:cs typeface="Calibri"/>
              </a:rPr>
              <a:t>    Menampilkan bukti rental, biaya, denda, total bayar, status, &amp; pengujian program</a:t>
            </a:r>
          </a:p>
        </p:txBody>
      </p:sp>
      <p:sp>
        <p:nvSpPr>
          <p:cNvPr id="8" name="Rect8"/>
          <p:cNvSpPr/>
          <p:nvPr/>
        </p:nvSpPr>
        <p:spPr>
          <a:xfrm>
            <a:off x="7406640" y="2651760"/>
            <a:ext cx="4114800" cy="32918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TextBox9"/>
          <p:cNvSpPr txBox="1"/>
          <p:nvPr/>
        </p:nvSpPr>
        <p:spPr>
          <a:xfrm>
            <a:off x="7520940" y="2834640"/>
            <a:ext cx="3886200" cy="3017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1200"/>
              </a:spcAft>
              <a:buNone/>
            </a:pPr>
            <a:r>
              <a:rPr lang="id-ID" sz="1500" b="1" i="0" dirty="0">
                <a:solidFill>
                  <a:srgbClr val="38BDF8"/>
                </a:solidFill>
                <a:latin typeface="Calibri"/>
                <a:cs typeface="Calibri"/>
              </a:rPr>
              <a:t>INFORMASI AKADEMIK</a:t>
            </a:r>
          </a:p>
          <a:p>
            <a:pPr algn="l">
              <a:spcAft>
                <a:spcPts val="100"/>
              </a:spcAft>
              <a:buNone/>
            </a:pPr>
            <a:r>
              <a:rPr lang="id-ID" sz="1100" b="0" i="0" dirty="0">
                <a:solidFill>
                  <a:srgbClr val="94A3B8"/>
                </a:solidFill>
                <a:latin typeface="Calibri"/>
                <a:cs typeface="Calibri"/>
              </a:rPr>
              <a:t>Mata Kuliah :</a:t>
            </a:r>
          </a:p>
          <a:p>
            <a:pPr algn="l">
              <a:spcAft>
                <a:spcPts val="800"/>
              </a:spcAft>
              <a:buNone/>
            </a:pPr>
            <a:r>
              <a:rPr lang="id-ID" sz="1400" b="1" i="0" dirty="0">
                <a:solidFill>
                  <a:srgbClr val="FFFFFF"/>
                </a:solidFill>
                <a:latin typeface="Calibri"/>
                <a:cs typeface="Calibri"/>
              </a:rPr>
              <a:t>Pemrograman</a:t>
            </a:r>
          </a:p>
          <a:p>
            <a:pPr algn="l">
              <a:spcAft>
                <a:spcPts val="100"/>
              </a:spcAft>
              <a:buNone/>
            </a:pPr>
            <a:r>
              <a:rPr lang="id-ID" sz="1100" b="0" i="0" dirty="0">
                <a:solidFill>
                  <a:srgbClr val="94A3B8"/>
                </a:solidFill>
                <a:latin typeface="Calibri"/>
                <a:cs typeface="Calibri"/>
              </a:rPr>
              <a:t>Dosen Pengampu :</a:t>
            </a:r>
          </a:p>
          <a:p>
            <a:pPr algn="l">
              <a:spcAft>
                <a:spcPts val="800"/>
              </a:spcAft>
              <a:buNone/>
            </a:pPr>
            <a:r>
              <a:rPr lang="sv-SE" sz="1300" b="0" i="0" dirty="0">
                <a:solidFill>
                  <a:srgbClr val="FFFFFF"/>
                </a:solidFill>
                <a:latin typeface="Calibri"/>
                <a:cs typeface="Calibri"/>
              </a:rPr>
              <a:t>Dr.Ir. Sigit Wasista, M.Kom</a:t>
            </a:r>
            <a:endParaRPr lang="id-ID" sz="1300" b="0" i="0" dirty="0">
              <a:solidFill>
                <a:srgbClr val="FFFFFF"/>
              </a:solidFill>
              <a:latin typeface="Calibri"/>
              <a:cs typeface="Calibri"/>
            </a:endParaRPr>
          </a:p>
          <a:p>
            <a:pPr algn="l">
              <a:spcAft>
                <a:spcPts val="100"/>
              </a:spcAft>
              <a:buNone/>
            </a:pPr>
            <a:r>
              <a:rPr lang="id-ID" sz="1100" b="0" i="0" dirty="0">
                <a:solidFill>
                  <a:srgbClr val="94A3B8"/>
                </a:solidFill>
                <a:latin typeface="Calibri"/>
                <a:cs typeface="Calibri"/>
              </a:rPr>
              <a:t>Program Studi / Institusi :</a:t>
            </a:r>
          </a:p>
          <a:p>
            <a:pPr algn="l">
              <a:spcAft>
                <a:spcPts val="800"/>
              </a:spcAft>
              <a:buNone/>
            </a:pPr>
            <a:r>
              <a:rPr lang="en-US" sz="1300" b="0" i="0" dirty="0">
                <a:solidFill>
                  <a:srgbClr val="FFFFFF"/>
                </a:solidFill>
                <a:latin typeface="Calibri"/>
                <a:cs typeface="Calibri"/>
              </a:rPr>
              <a:t>Teknik </a:t>
            </a:r>
            <a:r>
              <a:rPr lang="en-US" sz="1300" b="0" i="0" dirty="0" err="1">
                <a:solidFill>
                  <a:srgbClr val="FFFFFF"/>
                </a:solidFill>
                <a:latin typeface="Calibri"/>
                <a:cs typeface="Calibri"/>
              </a:rPr>
              <a:t>Komputer</a:t>
            </a:r>
            <a:r>
              <a:rPr lang="en-US" sz="1300" b="0" i="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lang="en-US" sz="1300" b="0" i="0" dirty="0" err="1">
                <a:solidFill>
                  <a:srgbClr val="FFFFFF"/>
                </a:solidFill>
                <a:latin typeface="Calibri"/>
                <a:cs typeface="Calibri"/>
              </a:rPr>
              <a:t>Politeknik</a:t>
            </a:r>
            <a:r>
              <a:rPr lang="en-US" sz="1300" b="0" i="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lang="en-US" sz="1300" b="0" i="0" dirty="0" err="1">
                <a:solidFill>
                  <a:srgbClr val="FFFFFF"/>
                </a:solidFill>
                <a:latin typeface="Calibri"/>
                <a:cs typeface="Calibri"/>
              </a:rPr>
              <a:t>Elektronika</a:t>
            </a:r>
            <a:r>
              <a:rPr lang="en-US" sz="1300" b="0" i="0" dirty="0">
                <a:solidFill>
                  <a:srgbClr val="FFFFFF"/>
                </a:solidFill>
                <a:latin typeface="Calibri"/>
                <a:cs typeface="Calibri"/>
              </a:rPr>
              <a:t> Negeri Surabaya</a:t>
            </a:r>
            <a:endParaRPr lang="id-ID" sz="1300" b="0" i="0" dirty="0">
              <a:solidFill>
                <a:srgbClr val="FFFFFF"/>
              </a:solidFill>
              <a:latin typeface="Calibri"/>
              <a:cs typeface="Calibri"/>
            </a:endParaRPr>
          </a:p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38BDF8"/>
                </a:solidFill>
                <a:latin typeface="Calibri"/>
                <a:cs typeface="Calibri"/>
              </a:rPr>
              <a:t>Tahun Akademik :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2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3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Box4"/>
          <p:cNvSpPr txBox="1"/>
          <p:nvPr/>
        </p:nvSpPr>
        <p:spPr>
          <a:xfrm>
            <a:off x="502920" y="164592"/>
            <a:ext cx="2194560" cy="292608"/>
          </a:xfrm>
          <a:prstGeom prst="roundRect">
            <a:avLst>
              <a:gd name="adj" fmla="val 25000"/>
            </a:avLst>
          </a:prstGeom>
          <a:solidFill>
            <a:srgbClr val="38BDF8"/>
          </a:solidFill>
          <a:ln>
            <a:noFill/>
          </a:ln>
        </p:spPr>
        <p:txBody>
          <a:bodyPr wrap="square" lIns="30000" tIns="10000" rIns="30000" bIns="10000" anchor="ctr"/>
          <a:lstStyle/>
          <a:p>
            <a:pPr algn="ctr">
              <a:spcAft>
                <a:spcPts val="400"/>
              </a:spcAft>
              <a:buNone/>
            </a:pPr>
            <a:r>
              <a:rPr lang="id-ID" sz="1100" b="1" i="0" dirty="0">
                <a:solidFill>
                  <a:srgbClr val="0F172A"/>
                </a:solidFill>
                <a:latin typeface="Calibri"/>
                <a:cs typeface="Calibri"/>
              </a:rPr>
              <a:t>BAB I</a:t>
            </a:r>
          </a:p>
        </p:txBody>
      </p:sp>
      <p:sp>
        <p:nvSpPr>
          <p:cNvPr id="5" name="TextBox5"/>
          <p:cNvSpPr txBox="1"/>
          <p:nvPr/>
        </p:nvSpPr>
        <p:spPr>
          <a:xfrm>
            <a:off x="502920" y="475488"/>
            <a:ext cx="96012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lang="id-ID" sz="2200" b="1" i="0" dirty="0">
                <a:solidFill>
                  <a:srgbClr val="FFFFFF"/>
                </a:solidFill>
                <a:latin typeface="Calibri"/>
                <a:cs typeface="Calibri"/>
              </a:rPr>
              <a:t>PENDAHULUAN: LATAR BELAKANG &amp; RUMUSAN MASALAH</a:t>
            </a:r>
          </a:p>
        </p:txBody>
      </p:sp>
      <p:sp>
        <p:nvSpPr>
          <p:cNvPr id="6" name="TextBox6"/>
          <p:cNvSpPr txBox="1"/>
          <p:nvPr/>
        </p:nvSpPr>
        <p:spPr>
          <a:xfrm>
            <a:off x="7498079" y="164592"/>
            <a:ext cx="41605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94A3B8"/>
                </a:solidFill>
                <a:latin typeface="Calibri"/>
                <a:cs typeface="Calibri"/>
              </a:rPr>
              <a:t>1.1 Latar Belakang &amp; 1.2 Rumusan Masalah</a:t>
            </a:r>
          </a:p>
        </p:txBody>
      </p:sp>
      <p:sp>
        <p:nvSpPr>
          <p:cNvPr id="7" name="Rect7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Box8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475569"/>
                </a:solidFill>
                <a:latin typeface="Calibri"/>
                <a:cs typeface="Calibri"/>
              </a:rPr>
              <a:t>Kelompok 3 — Sistem Rental Film (Bahasa C) | Mini Project Pemrograman Dasar</a:t>
            </a:r>
          </a:p>
        </p:txBody>
      </p:sp>
      <p:sp>
        <p:nvSpPr>
          <p:cNvPr id="9" name="TextBox9"/>
          <p:cNvSpPr txBox="1"/>
          <p:nvPr/>
        </p:nvSpPr>
        <p:spPr>
          <a:xfrm>
            <a:off x="10058400" y="6556248"/>
            <a:ext cx="1600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lang="id-ID" sz="1000" b="1" i="0" dirty="0">
                <a:solidFill>
                  <a:srgbClr val="0F172A"/>
                </a:solidFill>
                <a:latin typeface="Calibri"/>
                <a:cs typeface="Calibri"/>
              </a:rPr>
              <a:t>Slide 2 / 13</a:t>
            </a:r>
          </a:p>
        </p:txBody>
      </p:sp>
      <p:sp>
        <p:nvSpPr>
          <p:cNvPr id="10" name="Rect10"/>
          <p:cNvSpPr/>
          <p:nvPr/>
        </p:nvSpPr>
        <p:spPr>
          <a:xfrm>
            <a:off x="502920" y="1325880"/>
            <a:ext cx="5394960" cy="4937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11"/>
          <p:cNvSpPr/>
          <p:nvPr/>
        </p:nvSpPr>
        <p:spPr>
          <a:xfrm>
            <a:off x="502920" y="1325880"/>
            <a:ext cx="5394960" cy="384048"/>
          </a:xfrm>
          <a:prstGeom prst="roundRect">
            <a:avLst>
              <a:gd name="adj" fmla="val 4000"/>
            </a:avLst>
          </a:prstGeom>
          <a:solidFill>
            <a:srgbClr val="0284C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Box12"/>
          <p:cNvSpPr txBox="1"/>
          <p:nvPr/>
        </p:nvSpPr>
        <p:spPr>
          <a:xfrm>
            <a:off x="667512" y="1371600"/>
            <a:ext cx="5065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1.1 Latar Belakang Permasalahan</a:t>
            </a:r>
          </a:p>
        </p:txBody>
      </p:sp>
      <p:sp>
        <p:nvSpPr>
          <p:cNvPr id="13" name="TextBox13"/>
          <p:cNvSpPr txBox="1"/>
          <p:nvPr/>
        </p:nvSpPr>
        <p:spPr>
          <a:xfrm>
            <a:off x="640080" y="1764792"/>
            <a:ext cx="5120640" cy="443484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300" b="0" i="0" dirty="0">
                <a:solidFill>
                  <a:srgbClr val="1E293B"/>
                </a:solidFill>
                <a:latin typeface="Calibri"/>
                <a:cs typeface="Calibri"/>
              </a:rPr>
              <a:t>Proses penyewaan film secara manual membutuhkan pencatatan data pelanggan, pemilihan film yang tersedia, serta perhitungan biaya sewa dan denda keterlambatan secara terstruktur.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300" b="0" i="0" dirty="0">
                <a:solidFill>
                  <a:srgbClr val="1E293B"/>
                </a:solidFill>
                <a:latin typeface="Calibri"/>
                <a:cs typeface="Calibri"/>
              </a:rPr>
              <a:t>Selain itu, pelanggan terkadang membutuhkan perpanjangan masa sewa sebelum mengembalikan film.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300" b="0" i="0" dirty="0">
                <a:solidFill>
                  <a:srgbClr val="1E293B"/>
                </a:solidFill>
                <a:latin typeface="Calibri"/>
                <a:cs typeface="Calibri"/>
              </a:rPr>
              <a:t>Oleh karena itu, dibuat program sederhana menggunakan bahasa C untuk membantu proses transaksi rental film mulai dari validasi ketersediaan film hingga pencetakan bukti rental.</a:t>
            </a:r>
          </a:p>
        </p:txBody>
      </p:sp>
      <p:sp>
        <p:nvSpPr>
          <p:cNvPr id="14" name="Rect14"/>
          <p:cNvSpPr/>
          <p:nvPr/>
        </p:nvSpPr>
        <p:spPr>
          <a:xfrm>
            <a:off x="6172200" y="1325880"/>
            <a:ext cx="5394960" cy="4937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15"/>
          <p:cNvSpPr/>
          <p:nvPr/>
        </p:nvSpPr>
        <p:spPr>
          <a:xfrm>
            <a:off x="6172200" y="1325880"/>
            <a:ext cx="5394960" cy="384048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Box16"/>
          <p:cNvSpPr txBox="1"/>
          <p:nvPr/>
        </p:nvSpPr>
        <p:spPr>
          <a:xfrm>
            <a:off x="6336792" y="1371600"/>
            <a:ext cx="5065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1.2 Rumusan Masalah</a:t>
            </a:r>
          </a:p>
        </p:txBody>
      </p:sp>
      <p:sp>
        <p:nvSpPr>
          <p:cNvPr id="17" name="TextBox17"/>
          <p:cNvSpPr txBox="1"/>
          <p:nvPr/>
        </p:nvSpPr>
        <p:spPr>
          <a:xfrm>
            <a:off x="6309360" y="1764792"/>
            <a:ext cx="5120640" cy="443484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300" b="0" i="0" dirty="0">
                <a:solidFill>
                  <a:srgbClr val="1E293B"/>
                </a:solidFill>
                <a:latin typeface="Calibri"/>
                <a:cs typeface="Calibri"/>
              </a:rPr>
              <a:t>1. Bagaimana membuat program Sistem Rental Film menggunakan bahasa C?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300" b="0" i="0" dirty="0">
                <a:solidFill>
                  <a:srgbClr val="1E293B"/>
                </a:solidFill>
                <a:latin typeface="Calibri"/>
                <a:cs typeface="Calibri"/>
              </a:rPr>
              <a:t>2. Bagaimana melakukan input data pelanggan serta validasi pilihan dan ketersediaan stok film menggunakan do-while?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300" b="0" i="0" dirty="0">
                <a:solidFill>
                  <a:srgbClr val="1E293B"/>
                </a:solidFill>
                <a:latin typeface="Calibri"/>
                <a:cs typeface="Calibri"/>
              </a:rPr>
              <a:t>3. Bagaimana menentukan biaya sewa, perpanjangan lama peminjaman, denda keterlambatan (Rp2.000/hari), dan status pengembalian menggunakan if-else?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300" b="0" i="0" dirty="0">
                <a:solidFill>
                  <a:srgbClr val="1E293B"/>
                </a:solidFill>
                <a:latin typeface="Calibri"/>
                <a:cs typeface="Calibri"/>
              </a:rPr>
              <a:t>4. Bagaimana menampilkan bukti rental lengkap serta menguji skenario peminjaman tepat waktu dan terlambat?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2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3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Box4"/>
          <p:cNvSpPr txBox="1"/>
          <p:nvPr/>
        </p:nvSpPr>
        <p:spPr>
          <a:xfrm>
            <a:off x="502920" y="164592"/>
            <a:ext cx="2194560" cy="292608"/>
          </a:xfrm>
          <a:prstGeom prst="roundRect">
            <a:avLst>
              <a:gd name="adj" fmla="val 25000"/>
            </a:avLst>
          </a:prstGeom>
          <a:solidFill>
            <a:srgbClr val="38BDF8"/>
          </a:solidFill>
          <a:ln>
            <a:noFill/>
          </a:ln>
        </p:spPr>
        <p:txBody>
          <a:bodyPr wrap="square" lIns="30000" tIns="10000" rIns="30000" bIns="10000" anchor="ctr"/>
          <a:lstStyle/>
          <a:p>
            <a:pPr algn="ctr">
              <a:spcAft>
                <a:spcPts val="400"/>
              </a:spcAft>
              <a:buNone/>
            </a:pPr>
            <a:r>
              <a:rPr lang="id-ID" sz="1100" b="1" i="0" dirty="0">
                <a:solidFill>
                  <a:srgbClr val="0F172A"/>
                </a:solidFill>
                <a:latin typeface="Calibri"/>
                <a:cs typeface="Calibri"/>
              </a:rPr>
              <a:t>BAB I</a:t>
            </a:r>
          </a:p>
        </p:txBody>
      </p:sp>
      <p:sp>
        <p:nvSpPr>
          <p:cNvPr id="5" name="TextBox5"/>
          <p:cNvSpPr txBox="1"/>
          <p:nvPr/>
        </p:nvSpPr>
        <p:spPr>
          <a:xfrm>
            <a:off x="502920" y="475488"/>
            <a:ext cx="96012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lang="id-ID" sz="2200" b="1" i="0" dirty="0">
                <a:solidFill>
                  <a:srgbClr val="FFFFFF"/>
                </a:solidFill>
                <a:latin typeface="Calibri"/>
                <a:cs typeface="Calibri"/>
              </a:rPr>
              <a:t>PENDAHULUAN: TUJUAN &amp; BATASAN MASALAH</a:t>
            </a:r>
          </a:p>
        </p:txBody>
      </p:sp>
      <p:sp>
        <p:nvSpPr>
          <p:cNvPr id="6" name="TextBox6"/>
          <p:cNvSpPr txBox="1"/>
          <p:nvPr/>
        </p:nvSpPr>
        <p:spPr>
          <a:xfrm>
            <a:off x="7498079" y="164592"/>
            <a:ext cx="41605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94A3B8"/>
                </a:solidFill>
                <a:latin typeface="Calibri"/>
                <a:cs typeface="Calibri"/>
              </a:rPr>
              <a:t>1.3 Tujuan &amp; 1.4 Batasan Masalah</a:t>
            </a:r>
          </a:p>
        </p:txBody>
      </p:sp>
      <p:sp>
        <p:nvSpPr>
          <p:cNvPr id="7" name="Rect7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Box8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475569"/>
                </a:solidFill>
                <a:latin typeface="Calibri"/>
                <a:cs typeface="Calibri"/>
              </a:rPr>
              <a:t>Kelompok 3 — Sistem Rental Film (Bahasa C) | Mini Project Pemrograman Dasar</a:t>
            </a:r>
          </a:p>
        </p:txBody>
      </p:sp>
      <p:sp>
        <p:nvSpPr>
          <p:cNvPr id="9" name="TextBox9"/>
          <p:cNvSpPr txBox="1"/>
          <p:nvPr/>
        </p:nvSpPr>
        <p:spPr>
          <a:xfrm>
            <a:off x="10058400" y="6556248"/>
            <a:ext cx="1600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lang="id-ID" sz="1000" b="1" i="0" dirty="0">
                <a:solidFill>
                  <a:srgbClr val="0F172A"/>
                </a:solidFill>
                <a:latin typeface="Calibri"/>
                <a:cs typeface="Calibri"/>
              </a:rPr>
              <a:t>Slide 3 / 13</a:t>
            </a:r>
          </a:p>
        </p:txBody>
      </p:sp>
      <p:sp>
        <p:nvSpPr>
          <p:cNvPr id="10" name="Rect10"/>
          <p:cNvSpPr/>
          <p:nvPr/>
        </p:nvSpPr>
        <p:spPr>
          <a:xfrm>
            <a:off x="502920" y="1325880"/>
            <a:ext cx="5394960" cy="4937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11"/>
          <p:cNvSpPr/>
          <p:nvPr/>
        </p:nvSpPr>
        <p:spPr>
          <a:xfrm>
            <a:off x="502920" y="1325880"/>
            <a:ext cx="5394960" cy="384048"/>
          </a:xfrm>
          <a:prstGeom prst="roundRect">
            <a:avLst>
              <a:gd name="adj" fmla="val 4000"/>
            </a:avLst>
          </a:prstGeom>
          <a:solidFill>
            <a:srgbClr val="05966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Box12"/>
          <p:cNvSpPr txBox="1"/>
          <p:nvPr/>
        </p:nvSpPr>
        <p:spPr>
          <a:xfrm>
            <a:off x="667512" y="1371600"/>
            <a:ext cx="5065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1.3 Tujuan Pembuatan Program</a:t>
            </a:r>
          </a:p>
        </p:txBody>
      </p:sp>
      <p:sp>
        <p:nvSpPr>
          <p:cNvPr id="13" name="TextBox13"/>
          <p:cNvSpPr txBox="1"/>
          <p:nvPr/>
        </p:nvSpPr>
        <p:spPr>
          <a:xfrm>
            <a:off x="640080" y="1764792"/>
            <a:ext cx="5120640" cy="443484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300" b="0" i="0" dirty="0">
                <a:solidFill>
                  <a:srgbClr val="1E293B"/>
                </a:solidFill>
                <a:latin typeface="Calibri"/>
                <a:cs typeface="Calibri"/>
              </a:rPr>
              <a:t>1. Membuat program Sistem Rental Film menggunakan bahasa C.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300" b="0" i="0" dirty="0">
                <a:solidFill>
                  <a:srgbClr val="1E293B"/>
                </a:solidFill>
                <a:latin typeface="Calibri"/>
                <a:cs typeface="Calibri"/>
              </a:rPr>
              <a:t>2. Menerapkan struktur percabangan if, if-else, dan switch-case.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300" b="0" i="0" dirty="0">
                <a:solidFill>
                  <a:srgbClr val="1E293B"/>
                </a:solidFill>
                <a:latin typeface="Calibri"/>
                <a:cs typeface="Calibri"/>
              </a:rPr>
              <a:t>3. Menerapkan struktur perulangan do-while untuk validasi input pilihan film.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300" b="0" i="0" dirty="0">
                <a:solidFill>
                  <a:srgbClr val="1E293B"/>
                </a:solidFill>
                <a:latin typeface="Calibri"/>
                <a:cs typeface="Calibri"/>
              </a:rPr>
              <a:t>4. Menghitung biaya sewa, perpanjangan durasi, dan denda keterlambatan secara tepat.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300" b="0" i="0" dirty="0">
                <a:solidFill>
                  <a:srgbClr val="1E293B"/>
                </a:solidFill>
                <a:latin typeface="Calibri"/>
                <a:cs typeface="Calibri"/>
              </a:rPr>
              <a:t>5. Mengembangkan kemampuan bekerja sama dan integrasi kode dalam kelompok.</a:t>
            </a:r>
          </a:p>
        </p:txBody>
      </p:sp>
      <p:sp>
        <p:nvSpPr>
          <p:cNvPr id="14" name="Rect14"/>
          <p:cNvSpPr/>
          <p:nvPr/>
        </p:nvSpPr>
        <p:spPr>
          <a:xfrm>
            <a:off x="6172200" y="1325880"/>
            <a:ext cx="5394960" cy="4937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15"/>
          <p:cNvSpPr/>
          <p:nvPr/>
        </p:nvSpPr>
        <p:spPr>
          <a:xfrm>
            <a:off x="6172200" y="1325880"/>
            <a:ext cx="5394960" cy="384048"/>
          </a:xfrm>
          <a:prstGeom prst="roundRect">
            <a:avLst>
              <a:gd name="adj" fmla="val 4000"/>
            </a:avLst>
          </a:prstGeom>
          <a:solidFill>
            <a:srgbClr val="DC262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Box16"/>
          <p:cNvSpPr txBox="1"/>
          <p:nvPr/>
        </p:nvSpPr>
        <p:spPr>
          <a:xfrm>
            <a:off x="6336792" y="1371600"/>
            <a:ext cx="5065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1.4 Batasan Masalah</a:t>
            </a:r>
          </a:p>
        </p:txBody>
      </p:sp>
      <p:sp>
        <p:nvSpPr>
          <p:cNvPr id="17" name="TextBox17"/>
          <p:cNvSpPr txBox="1"/>
          <p:nvPr/>
        </p:nvSpPr>
        <p:spPr>
          <a:xfrm>
            <a:off x="6309360" y="1764792"/>
            <a:ext cx="5120640" cy="443484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300" b="0" i="0" dirty="0">
                <a:solidFill>
                  <a:srgbClr val="1E293B"/>
                </a:solidFill>
                <a:latin typeface="Calibri"/>
                <a:cs typeface="Calibri"/>
              </a:rPr>
              <a:t>Program dibuat menggunakan bahasa C (&lt;stdio.h&gt; dan &lt;string.h&gt;).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300" b="0" i="0" dirty="0">
                <a:solidFill>
                  <a:srgbClr val="1E293B"/>
                </a:solidFill>
                <a:latin typeface="Calibri"/>
                <a:cs typeface="Calibri"/>
              </a:rPr>
              <a:t>Program TIDAK menggunakan array untuk menyimpan daftar film (menggunakan #define konstanta).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300" b="0" i="0" dirty="0">
                <a:solidFill>
                  <a:srgbClr val="1E293B"/>
                </a:solidFill>
                <a:latin typeface="Calibri"/>
                <a:cs typeface="Calibri"/>
              </a:rPr>
              <a:t>Program TIDAK menggunakan struct maupun konsep OOP.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300" b="0" i="0" dirty="0">
                <a:solidFill>
                  <a:srgbClr val="1E293B"/>
                </a:solidFill>
                <a:latin typeface="Calibri"/>
                <a:cs typeface="Calibri"/>
              </a:rPr>
              <a:t>Program TIDAK menggunakan pointer.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300" b="0" i="0" dirty="0">
                <a:solidFill>
                  <a:srgbClr val="1E293B"/>
                </a:solidFill>
                <a:latin typeface="Calibri"/>
                <a:cs typeface="Calibri"/>
              </a:rPr>
              <a:t>Struktur kontrol yang digunakan adalah do-while, switch-case, if, dan if-else.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300" b="0" i="0" dirty="0">
                <a:solidFill>
                  <a:srgbClr val="1E293B"/>
                </a:solidFill>
                <a:latin typeface="Calibri"/>
                <a:cs typeface="Calibri"/>
              </a:rPr>
              <a:t>Denda keterlambatan ditetapkan sebesar Rp2.000 per hari keterlambatan.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2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3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Box4"/>
          <p:cNvSpPr txBox="1"/>
          <p:nvPr/>
        </p:nvSpPr>
        <p:spPr>
          <a:xfrm>
            <a:off x="502920" y="164592"/>
            <a:ext cx="2194560" cy="292608"/>
          </a:xfrm>
          <a:prstGeom prst="roundRect">
            <a:avLst>
              <a:gd name="adj" fmla="val 25000"/>
            </a:avLst>
          </a:prstGeom>
          <a:solidFill>
            <a:srgbClr val="38BDF8"/>
          </a:solidFill>
          <a:ln>
            <a:noFill/>
          </a:ln>
        </p:spPr>
        <p:txBody>
          <a:bodyPr wrap="square" lIns="30000" tIns="10000" rIns="30000" bIns="10000" anchor="ctr"/>
          <a:lstStyle/>
          <a:p>
            <a:pPr algn="ctr">
              <a:spcAft>
                <a:spcPts val="400"/>
              </a:spcAft>
              <a:buNone/>
            </a:pPr>
            <a:r>
              <a:rPr lang="id-ID" sz="1100" b="1" i="0" dirty="0">
                <a:solidFill>
                  <a:srgbClr val="0F172A"/>
                </a:solidFill>
                <a:latin typeface="Calibri"/>
                <a:cs typeface="Calibri"/>
              </a:rPr>
              <a:t>BAB II</a:t>
            </a:r>
          </a:p>
        </p:txBody>
      </p:sp>
      <p:sp>
        <p:nvSpPr>
          <p:cNvPr id="5" name="TextBox5"/>
          <p:cNvSpPr txBox="1"/>
          <p:nvPr/>
        </p:nvSpPr>
        <p:spPr>
          <a:xfrm>
            <a:off x="502920" y="475488"/>
            <a:ext cx="96012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lang="id-ID" sz="2200" b="1" i="0" dirty="0">
                <a:solidFill>
                  <a:srgbClr val="FFFFFF"/>
                </a:solidFill>
                <a:latin typeface="Calibri"/>
                <a:cs typeface="Calibri"/>
              </a:rPr>
              <a:t>ANALISIS &amp; PERANCANGAN: DESKRIPSI SISTEM &amp; IPO</a:t>
            </a:r>
          </a:p>
        </p:txBody>
      </p:sp>
      <p:sp>
        <p:nvSpPr>
          <p:cNvPr id="6" name="TextBox6"/>
          <p:cNvSpPr txBox="1"/>
          <p:nvPr/>
        </p:nvSpPr>
        <p:spPr>
          <a:xfrm>
            <a:off x="7498079" y="164592"/>
            <a:ext cx="41605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94A3B8"/>
                </a:solidFill>
                <a:latin typeface="Calibri"/>
                <a:cs typeface="Calibri"/>
              </a:rPr>
              <a:t>2.1 Deskripsi Sistem &amp; 2.2 Input - Proses - Output</a:t>
            </a:r>
          </a:p>
        </p:txBody>
      </p:sp>
      <p:sp>
        <p:nvSpPr>
          <p:cNvPr id="7" name="Rect7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Box8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475569"/>
                </a:solidFill>
                <a:latin typeface="Calibri"/>
                <a:cs typeface="Calibri"/>
              </a:rPr>
              <a:t>Kelompok 3 — Sistem Rental Film (Bahasa C) | Mini Project Pemrograman Dasar</a:t>
            </a:r>
          </a:p>
        </p:txBody>
      </p:sp>
      <p:sp>
        <p:nvSpPr>
          <p:cNvPr id="9" name="TextBox9"/>
          <p:cNvSpPr txBox="1"/>
          <p:nvPr/>
        </p:nvSpPr>
        <p:spPr>
          <a:xfrm>
            <a:off x="10058400" y="6556248"/>
            <a:ext cx="1600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lang="id-ID" sz="1000" b="1" i="0" dirty="0">
                <a:solidFill>
                  <a:srgbClr val="0F172A"/>
                </a:solidFill>
                <a:latin typeface="Calibri"/>
                <a:cs typeface="Calibri"/>
              </a:rPr>
              <a:t>Slide 4 / 13</a:t>
            </a:r>
          </a:p>
        </p:txBody>
      </p:sp>
      <p:sp>
        <p:nvSpPr>
          <p:cNvPr id="10" name="Rect10"/>
          <p:cNvSpPr/>
          <p:nvPr/>
        </p:nvSpPr>
        <p:spPr>
          <a:xfrm>
            <a:off x="502920" y="1298448"/>
            <a:ext cx="11064240" cy="1508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11"/>
          <p:cNvSpPr/>
          <p:nvPr/>
        </p:nvSpPr>
        <p:spPr>
          <a:xfrm>
            <a:off x="502920" y="1298448"/>
            <a:ext cx="11064240" cy="384048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Box12"/>
          <p:cNvSpPr txBox="1"/>
          <p:nvPr/>
        </p:nvSpPr>
        <p:spPr>
          <a:xfrm>
            <a:off x="667512" y="1344168"/>
            <a:ext cx="1073505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2.1 Deskripsi Singkat Sistem</a:t>
            </a:r>
          </a:p>
        </p:txBody>
      </p:sp>
      <p:sp>
        <p:nvSpPr>
          <p:cNvPr id="13" name="TextBox13"/>
          <p:cNvSpPr txBox="1"/>
          <p:nvPr/>
        </p:nvSpPr>
        <p:spPr>
          <a:xfrm>
            <a:off x="640080" y="1737360"/>
            <a:ext cx="10789920" cy="100584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Program dimulai dengan menerima input ID dan nama pelanggan, lalu menampilkan daftar 5 film beserta biaya/hari dan status ketersediaannya (Tersedia/Dipinjam). Pelanggan memilih nomor film (1-5) dan program memvalidasi pilihan menggunakan do-while &amp; switch-case (jika stok = 0 seperti Interstellar, pelanggan diminta memilih ulang). Selanjutnya pelanggan memasukkan lama peminjaman, opsi perpanjangan (y/n), dan hari pengembalian. Program menghitung biaya sewa, mengecek keterlambatan (if-else) dengan denda Rp2.000/hari, lalu mencetak Bukti Rental.</a:t>
            </a:r>
          </a:p>
        </p:txBody>
      </p:sp>
      <p:sp>
        <p:nvSpPr>
          <p:cNvPr id="14" name="Rect14"/>
          <p:cNvSpPr/>
          <p:nvPr/>
        </p:nvSpPr>
        <p:spPr>
          <a:xfrm>
            <a:off x="502920" y="2971800"/>
            <a:ext cx="3520440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15"/>
          <p:cNvSpPr/>
          <p:nvPr/>
        </p:nvSpPr>
        <p:spPr>
          <a:xfrm>
            <a:off x="502920" y="2971800"/>
            <a:ext cx="3520440" cy="384048"/>
          </a:xfrm>
          <a:prstGeom prst="roundRect">
            <a:avLst>
              <a:gd name="adj" fmla="val 4000"/>
            </a:avLst>
          </a:prstGeom>
          <a:solidFill>
            <a:srgbClr val="0284C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Box16"/>
          <p:cNvSpPr txBox="1"/>
          <p:nvPr/>
        </p:nvSpPr>
        <p:spPr>
          <a:xfrm>
            <a:off x="667512" y="3017520"/>
            <a:ext cx="319125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INPUT (Masukan)</a:t>
            </a:r>
          </a:p>
        </p:txBody>
      </p:sp>
      <p:sp>
        <p:nvSpPr>
          <p:cNvPr id="17" name="TextBox17"/>
          <p:cNvSpPr txBox="1"/>
          <p:nvPr/>
        </p:nvSpPr>
        <p:spPr>
          <a:xfrm>
            <a:off x="640080" y="3410712"/>
            <a:ext cx="3246120" cy="2834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ID Pelanggan (id)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Nama Pelanggan (nama)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Pilihan Nomor Film 1-5 (pilih)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Lama Peminjaman Awal (lama)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Opsi Perpanjang y/n (jawab &amp; tambah)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Hari Pengembalian Film (hariKembali)</a:t>
            </a:r>
          </a:p>
        </p:txBody>
      </p:sp>
      <p:sp>
        <p:nvSpPr>
          <p:cNvPr id="18" name="Rect18"/>
          <p:cNvSpPr/>
          <p:nvPr/>
        </p:nvSpPr>
        <p:spPr>
          <a:xfrm>
            <a:off x="4279392" y="2971800"/>
            <a:ext cx="3520440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19"/>
          <p:cNvSpPr/>
          <p:nvPr/>
        </p:nvSpPr>
        <p:spPr>
          <a:xfrm>
            <a:off x="4279392" y="2971800"/>
            <a:ext cx="3520440" cy="384048"/>
          </a:xfrm>
          <a:prstGeom prst="roundRect">
            <a:avLst>
              <a:gd name="adj" fmla="val 4000"/>
            </a:avLst>
          </a:prstGeom>
          <a:solidFill>
            <a:srgbClr val="7C3AE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Box20"/>
          <p:cNvSpPr txBox="1"/>
          <p:nvPr/>
        </p:nvSpPr>
        <p:spPr>
          <a:xfrm>
            <a:off x="4443984" y="3017520"/>
            <a:ext cx="319125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PROSES (Pengolahan)</a:t>
            </a:r>
          </a:p>
        </p:txBody>
      </p:sp>
      <p:sp>
        <p:nvSpPr>
          <p:cNvPr id="21" name="TextBox21"/>
          <p:cNvSpPr txBox="1"/>
          <p:nvPr/>
        </p:nvSpPr>
        <p:spPr>
          <a:xfrm>
            <a:off x="4416552" y="3410712"/>
            <a:ext cx="3246120" cy="2834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Validasi nomor film &amp; cek STOK (do-while &amp; switch)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Menentukan judul &amp; harga film terpilih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Menambah lama pinjam jika diperpanjang (if)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Menghitung biaya = harga * lama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Cek hariKembali &gt; lama (if-else)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Hitung denda = (hariKembali - lama) * 2000</a:t>
            </a:r>
          </a:p>
        </p:txBody>
      </p:sp>
      <p:sp>
        <p:nvSpPr>
          <p:cNvPr id="22" name="Rect22"/>
          <p:cNvSpPr/>
          <p:nvPr/>
        </p:nvSpPr>
        <p:spPr>
          <a:xfrm>
            <a:off x="8046720" y="2971800"/>
            <a:ext cx="3520440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23"/>
          <p:cNvSpPr/>
          <p:nvPr/>
        </p:nvSpPr>
        <p:spPr>
          <a:xfrm>
            <a:off x="8046720" y="2971800"/>
            <a:ext cx="3520440" cy="384048"/>
          </a:xfrm>
          <a:prstGeom prst="roundRect">
            <a:avLst>
              <a:gd name="adj" fmla="val 4000"/>
            </a:avLst>
          </a:prstGeom>
          <a:solidFill>
            <a:srgbClr val="05966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Box24"/>
          <p:cNvSpPr txBox="1"/>
          <p:nvPr/>
        </p:nvSpPr>
        <p:spPr>
          <a:xfrm>
            <a:off x="8211312" y="3017520"/>
            <a:ext cx="319125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OUTPUT (Keluaran)</a:t>
            </a:r>
          </a:p>
        </p:txBody>
      </p:sp>
      <p:sp>
        <p:nvSpPr>
          <p:cNvPr id="25" name="TextBox25"/>
          <p:cNvSpPr txBox="1"/>
          <p:nvPr/>
        </p:nvSpPr>
        <p:spPr>
          <a:xfrm>
            <a:off x="8183880" y="3410712"/>
            <a:ext cx="3246120" cy="2834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Tabel Daftar Film (No, Nama, Biaya/Hari, Status)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Konfirmasi Film Terpilih &amp; Harga/Hari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Bukti Rental: ID / Nama Pelanggan, Judul Film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Lama Pinjam &amp; Hari Dikembalikan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Biaya Sewa, Denda, &amp; Total Bayar (biaya + denda)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Status Pengembalian (Tepat waktu / Terlambat)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2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3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Box4"/>
          <p:cNvSpPr txBox="1"/>
          <p:nvPr/>
        </p:nvSpPr>
        <p:spPr>
          <a:xfrm>
            <a:off x="502920" y="164592"/>
            <a:ext cx="2194560" cy="292608"/>
          </a:xfrm>
          <a:prstGeom prst="roundRect">
            <a:avLst>
              <a:gd name="adj" fmla="val 25000"/>
            </a:avLst>
          </a:prstGeom>
          <a:solidFill>
            <a:srgbClr val="38BDF8"/>
          </a:solidFill>
          <a:ln>
            <a:noFill/>
          </a:ln>
        </p:spPr>
        <p:txBody>
          <a:bodyPr wrap="square" lIns="30000" tIns="10000" rIns="30000" bIns="10000" anchor="ctr"/>
          <a:lstStyle/>
          <a:p>
            <a:pPr algn="ctr">
              <a:spcAft>
                <a:spcPts val="400"/>
              </a:spcAft>
              <a:buNone/>
            </a:pPr>
            <a:r>
              <a:rPr lang="id-ID" sz="1100" b="1" i="0" dirty="0">
                <a:solidFill>
                  <a:srgbClr val="0F172A"/>
                </a:solidFill>
                <a:latin typeface="Calibri"/>
                <a:cs typeface="Calibri"/>
              </a:rPr>
              <a:t>BAB II</a:t>
            </a:r>
          </a:p>
        </p:txBody>
      </p:sp>
      <p:sp>
        <p:nvSpPr>
          <p:cNvPr id="5" name="TextBox5"/>
          <p:cNvSpPr txBox="1"/>
          <p:nvPr/>
        </p:nvSpPr>
        <p:spPr>
          <a:xfrm>
            <a:off x="502920" y="475488"/>
            <a:ext cx="96012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lang="id-ID" sz="2200" b="1" i="0" dirty="0">
                <a:solidFill>
                  <a:srgbClr val="FFFFFF"/>
                </a:solidFill>
                <a:latin typeface="Calibri"/>
                <a:cs typeface="Calibri"/>
              </a:rPr>
              <a:t>ANALISIS &amp; PERANCANGAN: ALGORITMA / PSEUDOCODE</a:t>
            </a:r>
          </a:p>
        </p:txBody>
      </p:sp>
      <p:sp>
        <p:nvSpPr>
          <p:cNvPr id="6" name="TextBox6"/>
          <p:cNvSpPr txBox="1"/>
          <p:nvPr/>
        </p:nvSpPr>
        <p:spPr>
          <a:xfrm>
            <a:off x="7498079" y="164592"/>
            <a:ext cx="41605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94A3B8"/>
                </a:solidFill>
                <a:latin typeface="Calibri"/>
                <a:cs typeface="Calibri"/>
              </a:rPr>
              <a:t>2.3 Algoritma Program Sistem Rental Film</a:t>
            </a:r>
          </a:p>
        </p:txBody>
      </p:sp>
      <p:sp>
        <p:nvSpPr>
          <p:cNvPr id="7" name="Rect7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Box8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475569"/>
                </a:solidFill>
                <a:latin typeface="Calibri"/>
                <a:cs typeface="Calibri"/>
              </a:rPr>
              <a:t>Kelompok 3 — Sistem Rental Film (Bahasa C) | Mini Project Pemrograman Dasar</a:t>
            </a:r>
          </a:p>
        </p:txBody>
      </p:sp>
      <p:sp>
        <p:nvSpPr>
          <p:cNvPr id="9" name="TextBox9"/>
          <p:cNvSpPr txBox="1"/>
          <p:nvPr/>
        </p:nvSpPr>
        <p:spPr>
          <a:xfrm>
            <a:off x="10058400" y="6556248"/>
            <a:ext cx="1600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lang="id-ID" sz="1000" b="1" i="0" dirty="0">
                <a:solidFill>
                  <a:srgbClr val="0F172A"/>
                </a:solidFill>
                <a:latin typeface="Calibri"/>
                <a:cs typeface="Calibri"/>
              </a:rPr>
              <a:t>Slide 5 / 13</a:t>
            </a:r>
          </a:p>
        </p:txBody>
      </p:sp>
      <p:sp>
        <p:nvSpPr>
          <p:cNvPr id="10" name="Rect10"/>
          <p:cNvSpPr/>
          <p:nvPr/>
        </p:nvSpPr>
        <p:spPr>
          <a:xfrm>
            <a:off x="502920" y="1298448"/>
            <a:ext cx="5394960" cy="4983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11"/>
          <p:cNvSpPr/>
          <p:nvPr/>
        </p:nvSpPr>
        <p:spPr>
          <a:xfrm>
            <a:off x="502920" y="1298448"/>
            <a:ext cx="5394960" cy="384048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Box12"/>
          <p:cNvSpPr txBox="1"/>
          <p:nvPr/>
        </p:nvSpPr>
        <p:spPr>
          <a:xfrm>
            <a:off x="667512" y="1344168"/>
            <a:ext cx="5065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Algoritma Bagian 1: Data Pelanggan &amp; Validasi Film</a:t>
            </a:r>
          </a:p>
        </p:txBody>
      </p:sp>
      <p:sp>
        <p:nvSpPr>
          <p:cNvPr id="13" name="TextBox13"/>
          <p:cNvSpPr txBox="1"/>
          <p:nvPr/>
        </p:nvSpPr>
        <p:spPr>
          <a:xfrm>
            <a:off x="640080" y="1737360"/>
            <a:ext cx="5120640" cy="448056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algn="l">
              <a:spcAft>
                <a:spcPts val="400"/>
              </a:spcAft>
              <a:buNone/>
            </a:pPr>
            <a:r>
              <a:rPr lang="id-ID" sz="1100" b="1" i="0" dirty="0">
                <a:solidFill>
                  <a:srgbClr val="0284C7"/>
                </a:solidFill>
                <a:latin typeface="Consolas"/>
                <a:cs typeface="Consolas"/>
              </a:rPr>
              <a:t>Mulai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1E293B"/>
                </a:solidFill>
                <a:latin typeface="Consolas"/>
                <a:cs typeface="Consolas"/>
              </a:rPr>
              <a:t>  Input id pelanggan dan nama pelanggan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1E293B"/>
                </a:solidFill>
                <a:latin typeface="Consolas"/>
                <a:cs typeface="Consolas"/>
              </a:rPr>
              <a:t>  Tampilkan tabel 5 film (JUDUL1..5, HARGA1..5, STOK1..5)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1E293B"/>
                </a:solidFill>
                <a:latin typeface="Consolas"/>
                <a:cs typeface="Consolas"/>
              </a:rPr>
              <a:t>  Ulangi (do-while !valid):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1E293B"/>
                </a:solidFill>
                <a:latin typeface="Consolas"/>
                <a:cs typeface="Consolas"/>
              </a:rPr>
              <a:t>    valid = 0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1E293B"/>
                </a:solidFill>
                <a:latin typeface="Consolas"/>
                <a:cs typeface="Consolas"/>
              </a:rPr>
              <a:t>    Input pilih (nomor film 1-5)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1E293B"/>
                </a:solidFill>
                <a:latin typeface="Consolas"/>
                <a:cs typeface="Consolas"/>
              </a:rPr>
              <a:t>    Pilih kasus (switch pilih):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1E293B"/>
                </a:solidFill>
                <a:latin typeface="Consolas"/>
                <a:cs typeface="Consolas"/>
              </a:rPr>
              <a:t>      Kasus 1..5: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1E293B"/>
                </a:solidFill>
                <a:latin typeface="Consolas"/>
                <a:cs typeface="Consolas"/>
              </a:rPr>
              <a:t>        Jika STOK tersedia Maka: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1E293B"/>
                </a:solidFill>
                <a:latin typeface="Consolas"/>
                <a:cs typeface="Consolas"/>
              </a:rPr>
              <a:t>          Salin judul film &amp; simpan harga; valid = 1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1E293B"/>
                </a:solidFill>
                <a:latin typeface="Consolas"/>
                <a:cs typeface="Consolas"/>
              </a:rPr>
              <a:t>        Jika tidak: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1E293B"/>
                </a:solidFill>
                <a:latin typeface="Consolas"/>
                <a:cs typeface="Consolas"/>
              </a:rPr>
              <a:t>          Tampilkan 'Film sedang dipinjam, pilih yang lain!'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1E293B"/>
                </a:solidFill>
                <a:latin typeface="Consolas"/>
                <a:cs typeface="Consolas"/>
              </a:rPr>
              <a:t>      Default: Tampilkan 'Nomor tidak valid, ulangi!'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1E293B"/>
                </a:solidFill>
                <a:latin typeface="Consolas"/>
                <a:cs typeface="Consolas"/>
              </a:rPr>
              <a:t>  Selama valid == 0</a:t>
            </a:r>
          </a:p>
        </p:txBody>
      </p:sp>
      <p:sp>
        <p:nvSpPr>
          <p:cNvPr id="14" name="Rect14"/>
          <p:cNvSpPr/>
          <p:nvPr/>
        </p:nvSpPr>
        <p:spPr>
          <a:xfrm>
            <a:off x="6172200" y="1298448"/>
            <a:ext cx="5394960" cy="4983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15"/>
          <p:cNvSpPr/>
          <p:nvPr/>
        </p:nvSpPr>
        <p:spPr>
          <a:xfrm>
            <a:off x="6172200" y="1298448"/>
            <a:ext cx="5394960" cy="384048"/>
          </a:xfrm>
          <a:prstGeom prst="roundRect">
            <a:avLst>
              <a:gd name="adj" fmla="val 4000"/>
            </a:avLst>
          </a:prstGeom>
          <a:solidFill>
            <a:srgbClr val="0284C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Box16"/>
          <p:cNvSpPr txBox="1"/>
          <p:nvPr/>
        </p:nvSpPr>
        <p:spPr>
          <a:xfrm>
            <a:off x="6336792" y="1344168"/>
            <a:ext cx="5065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Algoritma Bagian 2: Proses Sewa, Denda, &amp; Bukti Rental</a:t>
            </a:r>
          </a:p>
        </p:txBody>
      </p:sp>
      <p:sp>
        <p:nvSpPr>
          <p:cNvPr id="17" name="TextBox17"/>
          <p:cNvSpPr txBox="1"/>
          <p:nvPr/>
        </p:nvSpPr>
        <p:spPr>
          <a:xfrm>
            <a:off x="6309360" y="1737360"/>
            <a:ext cx="5120640" cy="448056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algn="l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1E293B"/>
                </a:solidFill>
                <a:latin typeface="Consolas"/>
                <a:cs typeface="Consolas"/>
              </a:rPr>
              <a:t>  Tampilkan judul film dan harga terpilih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1E293B"/>
                </a:solidFill>
                <a:latin typeface="Consolas"/>
                <a:cs typeface="Consolas"/>
              </a:rPr>
              <a:t>  Input lama peminjaman (hari)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1E293B"/>
                </a:solidFill>
                <a:latin typeface="Consolas"/>
                <a:cs typeface="Consolas"/>
              </a:rPr>
              <a:t>  Input jawab ('Perpanjang peminjaman? y/n')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1E293B"/>
                </a:solidFill>
                <a:latin typeface="Consolas"/>
                <a:cs typeface="Consolas"/>
              </a:rPr>
              <a:t>  Jika jawab == 'y' atau 'Y' Maka: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1E293B"/>
                </a:solidFill>
                <a:latin typeface="Consolas"/>
                <a:cs typeface="Consolas"/>
              </a:rPr>
              <a:t>    Input tambah hari; lama = lama + tambah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1E293B"/>
                </a:solidFill>
                <a:latin typeface="Consolas"/>
                <a:cs typeface="Consolas"/>
              </a:rPr>
              <a:t>  Input hariKembali ('Film dikembalikan pada hari ke-')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1E293B"/>
                </a:solidFill>
                <a:latin typeface="Consolas"/>
                <a:cs typeface="Consolas"/>
              </a:rPr>
              <a:t>  biaya = harga * lama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1E293B"/>
                </a:solidFill>
                <a:latin typeface="Consolas"/>
                <a:cs typeface="Consolas"/>
              </a:rPr>
              <a:t>  Jika hariKembali &gt; lama Maka: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1E293B"/>
                </a:solidFill>
                <a:latin typeface="Consolas"/>
                <a:cs typeface="Consolas"/>
              </a:rPr>
              <a:t>    denda = (hariKembali - lama) * 2000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1E293B"/>
                </a:solidFill>
                <a:latin typeface="Consolas"/>
                <a:cs typeface="Consolas"/>
              </a:rPr>
              <a:t>    status = 'Terlambat'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1E293B"/>
                </a:solidFill>
                <a:latin typeface="Consolas"/>
                <a:cs typeface="Consolas"/>
              </a:rPr>
              <a:t>  Selain itu: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1E293B"/>
                </a:solidFill>
                <a:latin typeface="Consolas"/>
                <a:cs typeface="Consolas"/>
              </a:rPr>
              <a:t>    denda = 0; status = 'Tepat waktu'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1E293B"/>
                </a:solidFill>
                <a:latin typeface="Consolas"/>
                <a:cs typeface="Consolas"/>
              </a:rPr>
              <a:t>  Tampilkan Bukti Rental (biaya, denda, total, status)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100" b="1" i="0" dirty="0">
                <a:solidFill>
                  <a:srgbClr val="0284C7"/>
                </a:solidFill>
                <a:latin typeface="Consolas"/>
                <a:cs typeface="Consolas"/>
              </a:rPr>
              <a:t>Selesai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2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3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Box4"/>
          <p:cNvSpPr txBox="1"/>
          <p:nvPr/>
        </p:nvSpPr>
        <p:spPr>
          <a:xfrm>
            <a:off x="502920" y="164592"/>
            <a:ext cx="2194560" cy="292608"/>
          </a:xfrm>
          <a:prstGeom prst="roundRect">
            <a:avLst>
              <a:gd name="adj" fmla="val 25000"/>
            </a:avLst>
          </a:prstGeom>
          <a:solidFill>
            <a:srgbClr val="38BDF8"/>
          </a:solidFill>
          <a:ln>
            <a:noFill/>
          </a:ln>
        </p:spPr>
        <p:txBody>
          <a:bodyPr wrap="square" lIns="30000" tIns="10000" rIns="30000" bIns="10000" anchor="ctr"/>
          <a:lstStyle/>
          <a:p>
            <a:pPr algn="ctr">
              <a:spcAft>
                <a:spcPts val="400"/>
              </a:spcAft>
              <a:buNone/>
            </a:pPr>
            <a:r>
              <a:rPr lang="id-ID" sz="1100" b="1" i="0" dirty="0">
                <a:solidFill>
                  <a:srgbClr val="0F172A"/>
                </a:solidFill>
                <a:latin typeface="Calibri"/>
                <a:cs typeface="Calibri"/>
              </a:rPr>
              <a:t>BAB II</a:t>
            </a:r>
          </a:p>
        </p:txBody>
      </p:sp>
      <p:sp>
        <p:nvSpPr>
          <p:cNvPr id="5" name="TextBox5"/>
          <p:cNvSpPr txBox="1"/>
          <p:nvPr/>
        </p:nvSpPr>
        <p:spPr>
          <a:xfrm>
            <a:off x="502920" y="475488"/>
            <a:ext cx="96012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lang="id-ID" sz="2200" b="1" i="0" dirty="0">
                <a:solidFill>
                  <a:srgbClr val="FFFFFF"/>
                </a:solidFill>
                <a:latin typeface="Calibri"/>
                <a:cs typeface="Calibri"/>
              </a:rPr>
              <a:t>ANALISIS &amp; PERANCANGAN: FLOWCHART PROGRAM</a:t>
            </a:r>
          </a:p>
        </p:txBody>
      </p:sp>
      <p:sp>
        <p:nvSpPr>
          <p:cNvPr id="6" name="TextBox6"/>
          <p:cNvSpPr txBox="1"/>
          <p:nvPr/>
        </p:nvSpPr>
        <p:spPr>
          <a:xfrm>
            <a:off x="7498079" y="164592"/>
            <a:ext cx="41605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94A3B8"/>
                </a:solidFill>
                <a:latin typeface="Calibri"/>
                <a:cs typeface="Calibri"/>
              </a:rPr>
              <a:t>2.4 Alur: Mulai -&gt; Input -&gt; Validasi (do-while) -&gt; Perpanjangan -&gt; Perhitungan -&gt; Output -&gt; Selesai</a:t>
            </a:r>
          </a:p>
        </p:txBody>
      </p:sp>
      <p:sp>
        <p:nvSpPr>
          <p:cNvPr id="7" name="Rect7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Box8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475569"/>
                </a:solidFill>
                <a:latin typeface="Calibri"/>
                <a:cs typeface="Calibri"/>
              </a:rPr>
              <a:t>Kelompok 3 — Sistem Rental Film (Bahasa C) | Mini Project Pemrograman Dasar</a:t>
            </a:r>
          </a:p>
        </p:txBody>
      </p:sp>
      <p:sp>
        <p:nvSpPr>
          <p:cNvPr id="9" name="TextBox9"/>
          <p:cNvSpPr txBox="1"/>
          <p:nvPr/>
        </p:nvSpPr>
        <p:spPr>
          <a:xfrm>
            <a:off x="10058400" y="6556248"/>
            <a:ext cx="1600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lang="id-ID" sz="1000" b="1" i="0" dirty="0">
                <a:solidFill>
                  <a:srgbClr val="0F172A"/>
                </a:solidFill>
                <a:latin typeface="Calibri"/>
                <a:cs typeface="Calibri"/>
              </a:rPr>
              <a:t>Slide 6 / 13</a:t>
            </a:r>
          </a:p>
        </p:txBody>
      </p:sp>
      <p:sp>
        <p:nvSpPr>
          <p:cNvPr id="27" name="TextBox27"/>
          <p:cNvSpPr txBox="1"/>
          <p:nvPr/>
        </p:nvSpPr>
        <p:spPr>
          <a:xfrm>
            <a:off x="9171432" y="1554480"/>
            <a:ext cx="223113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4. LAMA PINJAM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C99DE75D-0EFD-58B2-48C0-F7591474AF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8814" y="1179576"/>
            <a:ext cx="3689265" cy="527455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2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3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Box4"/>
          <p:cNvSpPr txBox="1"/>
          <p:nvPr/>
        </p:nvSpPr>
        <p:spPr>
          <a:xfrm>
            <a:off x="502920" y="164592"/>
            <a:ext cx="2194560" cy="292608"/>
          </a:xfrm>
          <a:prstGeom prst="roundRect">
            <a:avLst>
              <a:gd name="adj" fmla="val 25000"/>
            </a:avLst>
          </a:prstGeom>
          <a:solidFill>
            <a:srgbClr val="38BDF8"/>
          </a:solidFill>
          <a:ln>
            <a:noFill/>
          </a:ln>
        </p:spPr>
        <p:txBody>
          <a:bodyPr wrap="square" lIns="30000" tIns="10000" rIns="30000" bIns="10000" anchor="ctr"/>
          <a:lstStyle/>
          <a:p>
            <a:pPr algn="ctr">
              <a:spcAft>
                <a:spcPts val="400"/>
              </a:spcAft>
              <a:buNone/>
            </a:pPr>
            <a:r>
              <a:rPr lang="id-ID" sz="1100" b="1" i="0" dirty="0">
                <a:solidFill>
                  <a:srgbClr val="0F172A"/>
                </a:solidFill>
                <a:latin typeface="Calibri"/>
                <a:cs typeface="Calibri"/>
              </a:rPr>
              <a:t>BAB III</a:t>
            </a:r>
          </a:p>
        </p:txBody>
      </p:sp>
      <p:sp>
        <p:nvSpPr>
          <p:cNvPr id="5" name="TextBox5"/>
          <p:cNvSpPr txBox="1"/>
          <p:nvPr/>
        </p:nvSpPr>
        <p:spPr>
          <a:xfrm>
            <a:off x="502920" y="475488"/>
            <a:ext cx="96012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lang="id-ID" sz="2200" b="1" i="0" dirty="0">
                <a:solidFill>
                  <a:srgbClr val="FFFFFF"/>
                </a:solidFill>
                <a:latin typeface="Calibri"/>
                <a:cs typeface="Calibri"/>
              </a:rPr>
              <a:t>IMPLEMENTASI: LINGKUNGAN &amp; STRUKTUR PROGRAM</a:t>
            </a:r>
          </a:p>
        </p:txBody>
      </p:sp>
      <p:sp>
        <p:nvSpPr>
          <p:cNvPr id="6" name="TextBox6"/>
          <p:cNvSpPr txBox="1"/>
          <p:nvPr/>
        </p:nvSpPr>
        <p:spPr>
          <a:xfrm>
            <a:off x="7498079" y="164592"/>
            <a:ext cx="41605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94A3B8"/>
                </a:solidFill>
                <a:latin typeface="Calibri"/>
                <a:cs typeface="Calibri"/>
              </a:rPr>
              <a:t>3.1 Lingkungan Pengembangan &amp; 3.2 Struktur Program</a:t>
            </a:r>
          </a:p>
        </p:txBody>
      </p:sp>
      <p:sp>
        <p:nvSpPr>
          <p:cNvPr id="7" name="Rect7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Box8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475569"/>
                </a:solidFill>
                <a:latin typeface="Calibri"/>
                <a:cs typeface="Calibri"/>
              </a:rPr>
              <a:t>Kelompok 3 — Sistem Rental Film (Bahasa C) | Mini Project Pemrograman Dasar</a:t>
            </a:r>
          </a:p>
        </p:txBody>
      </p:sp>
      <p:sp>
        <p:nvSpPr>
          <p:cNvPr id="9" name="TextBox9"/>
          <p:cNvSpPr txBox="1"/>
          <p:nvPr/>
        </p:nvSpPr>
        <p:spPr>
          <a:xfrm>
            <a:off x="10058400" y="6556248"/>
            <a:ext cx="1600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lang="id-ID" sz="1000" b="1" i="0" dirty="0">
                <a:solidFill>
                  <a:srgbClr val="0F172A"/>
                </a:solidFill>
                <a:latin typeface="Calibri"/>
                <a:cs typeface="Calibri"/>
              </a:rPr>
              <a:t>Slide 7 / 13</a:t>
            </a:r>
          </a:p>
        </p:txBody>
      </p:sp>
      <p:sp>
        <p:nvSpPr>
          <p:cNvPr id="10" name="Rect10"/>
          <p:cNvSpPr/>
          <p:nvPr/>
        </p:nvSpPr>
        <p:spPr>
          <a:xfrm>
            <a:off x="502920" y="1325880"/>
            <a:ext cx="4937760" cy="4937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11"/>
          <p:cNvSpPr/>
          <p:nvPr/>
        </p:nvSpPr>
        <p:spPr>
          <a:xfrm>
            <a:off x="502920" y="1325880"/>
            <a:ext cx="4937760" cy="384048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Box12"/>
          <p:cNvSpPr txBox="1"/>
          <p:nvPr/>
        </p:nvSpPr>
        <p:spPr>
          <a:xfrm>
            <a:off x="667512" y="1371600"/>
            <a:ext cx="46085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3.1 Lingkungan Pengembangan</a:t>
            </a:r>
          </a:p>
        </p:txBody>
      </p:sp>
      <p:sp>
        <p:nvSpPr>
          <p:cNvPr id="13" name="TextBox13"/>
          <p:cNvSpPr txBox="1"/>
          <p:nvPr/>
        </p:nvSpPr>
        <p:spPr>
          <a:xfrm>
            <a:off x="640080" y="1764792"/>
            <a:ext cx="4663440" cy="443484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300" b="0" i="0" dirty="0">
                <a:solidFill>
                  <a:srgbClr val="1E293B"/>
                </a:solidFill>
                <a:latin typeface="Calibri"/>
                <a:cs typeface="Calibri"/>
              </a:rPr>
              <a:t>Bahasa Pemrograman : Bahasa C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300" b="0" i="0" dirty="0">
                <a:solidFill>
                  <a:srgbClr val="1E293B"/>
                </a:solidFill>
                <a:latin typeface="Calibri"/>
                <a:cs typeface="Calibri"/>
              </a:rPr>
              <a:t>Compiler / IDE     : GCC (MinGW) / Visual Studio Code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300" b="0" i="0" dirty="0">
                <a:solidFill>
                  <a:srgbClr val="1E293B"/>
                </a:solidFill>
                <a:latin typeface="Calibri"/>
                <a:cs typeface="Calibri"/>
              </a:rPr>
              <a:t>Sistem Operasi     : Microsoft Windows 10 / 11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300" b="0" i="0" dirty="0">
                <a:solidFill>
                  <a:srgbClr val="1E293B"/>
                </a:solidFill>
                <a:latin typeface="Calibri"/>
                <a:cs typeface="Calibri"/>
              </a:rPr>
              <a:t>Header Library     : &lt;stdio.h&gt; dan &lt;string.h&gt;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300" b="0" i="0" dirty="0">
                <a:solidFill>
                  <a:srgbClr val="1E293B"/>
                </a:solidFill>
                <a:latin typeface="Calibri"/>
                <a:cs typeface="Calibri"/>
              </a:rPr>
              <a:t>Konstanta Makro    : #define JUDUL1..5, HARGA1..5, STOK1..5, DENDA_PER_HARI 2000</a:t>
            </a:r>
          </a:p>
        </p:txBody>
      </p:sp>
      <p:sp>
        <p:nvSpPr>
          <p:cNvPr id="14" name="Rect14"/>
          <p:cNvSpPr/>
          <p:nvPr/>
        </p:nvSpPr>
        <p:spPr>
          <a:xfrm>
            <a:off x="5715000" y="1325880"/>
            <a:ext cx="5852160" cy="4937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15"/>
          <p:cNvSpPr/>
          <p:nvPr/>
        </p:nvSpPr>
        <p:spPr>
          <a:xfrm>
            <a:off x="5715000" y="1325880"/>
            <a:ext cx="5852160" cy="384048"/>
          </a:xfrm>
          <a:prstGeom prst="roundRect">
            <a:avLst>
              <a:gd name="adj" fmla="val 4000"/>
            </a:avLst>
          </a:prstGeom>
          <a:solidFill>
            <a:srgbClr val="0284C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Box16"/>
          <p:cNvSpPr txBox="1"/>
          <p:nvPr/>
        </p:nvSpPr>
        <p:spPr>
          <a:xfrm>
            <a:off x="5879592" y="1371600"/>
            <a:ext cx="55229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3.2 Struktur Bagian Utama Program</a:t>
            </a:r>
          </a:p>
        </p:txBody>
      </p:sp>
      <p:sp>
        <p:nvSpPr>
          <p:cNvPr id="17" name="TextBox17"/>
          <p:cNvSpPr txBox="1"/>
          <p:nvPr/>
        </p:nvSpPr>
        <p:spPr>
          <a:xfrm>
            <a:off x="5852160" y="1764792"/>
            <a:ext cx="5577840" cy="443484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1. Definisi Data Film (#define): Menyimpan judul, harga sewa, dan status stok 5 film serta tarif denda Rp2.000/hari.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2. Bagian Input Pelanggan (Mahasiswa 1): Menerima input ID pelanggan (int) dan Nama pelanggan (char[]).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3. Bagian Daftar &amp; Validasi Film (Mahasiswa 1): Menampilkan tabel 5 film dan memvalidasi pilihan dengan do-while &amp; switch-case.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4. Bagian Lama Sewa &amp; Perpanjangan (Mahasiswa 2): Menerima lama pinjam dan opsi perpanjangan durasi (if jawab == 'y').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5. Bagian Perhitungan Biaya &amp; Denda (Mahasiswa 2): Menghitung biaya sewa dan mengecek keterlambatan (if-else hariKembali &gt; lama).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6. Bagian Output Bukti Rental (Mahasiswa 3): Menampilkan struk bukti rental lengkap beserta total bayar dan status.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2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3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Box4"/>
          <p:cNvSpPr txBox="1"/>
          <p:nvPr/>
        </p:nvSpPr>
        <p:spPr>
          <a:xfrm>
            <a:off x="502920" y="164592"/>
            <a:ext cx="2194560" cy="292608"/>
          </a:xfrm>
          <a:prstGeom prst="roundRect">
            <a:avLst>
              <a:gd name="adj" fmla="val 25000"/>
            </a:avLst>
          </a:prstGeom>
          <a:solidFill>
            <a:srgbClr val="38BDF8"/>
          </a:solidFill>
          <a:ln>
            <a:noFill/>
          </a:ln>
        </p:spPr>
        <p:txBody>
          <a:bodyPr wrap="square" lIns="30000" tIns="10000" rIns="30000" bIns="10000" anchor="ctr"/>
          <a:lstStyle/>
          <a:p>
            <a:pPr algn="ctr">
              <a:spcAft>
                <a:spcPts val="400"/>
              </a:spcAft>
              <a:buNone/>
            </a:pPr>
            <a:r>
              <a:rPr lang="id-ID" sz="1100" b="1" i="0" dirty="0">
                <a:solidFill>
                  <a:srgbClr val="0F172A"/>
                </a:solidFill>
                <a:latin typeface="Calibri"/>
                <a:cs typeface="Calibri"/>
              </a:rPr>
              <a:t>BAB III</a:t>
            </a:r>
          </a:p>
        </p:txBody>
      </p:sp>
      <p:sp>
        <p:nvSpPr>
          <p:cNvPr id="5" name="TextBox5"/>
          <p:cNvSpPr txBox="1"/>
          <p:nvPr/>
        </p:nvSpPr>
        <p:spPr>
          <a:xfrm>
            <a:off x="502920" y="475488"/>
            <a:ext cx="96012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lang="id-ID" sz="2200" b="1" i="0" dirty="0">
                <a:solidFill>
                  <a:srgbClr val="FFFFFF"/>
                </a:solidFill>
                <a:latin typeface="Calibri"/>
                <a:cs typeface="Calibri"/>
              </a:rPr>
              <a:t>IMPLEMENTASI: CUPLIKAN &amp; PENJELASAN SOURCE CODE</a:t>
            </a:r>
          </a:p>
        </p:txBody>
      </p:sp>
      <p:sp>
        <p:nvSpPr>
          <p:cNvPr id="6" name="TextBox6"/>
          <p:cNvSpPr txBox="1"/>
          <p:nvPr/>
        </p:nvSpPr>
        <p:spPr>
          <a:xfrm>
            <a:off x="7498079" y="164592"/>
            <a:ext cx="41605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94A3B8"/>
                </a:solidFill>
                <a:latin typeface="Calibri"/>
                <a:cs typeface="Calibri"/>
              </a:rPr>
              <a:t>3.3 Source Code Inti &amp; 3.4 Penjelasan Struktur Kontrol</a:t>
            </a:r>
          </a:p>
        </p:txBody>
      </p:sp>
      <p:sp>
        <p:nvSpPr>
          <p:cNvPr id="7" name="Rect7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Box8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475569"/>
                </a:solidFill>
                <a:latin typeface="Calibri"/>
                <a:cs typeface="Calibri"/>
              </a:rPr>
              <a:t>Kelompok 3 — Sistem Rental Film (Bahasa C) | Mini Project Pemrograman Dasar</a:t>
            </a:r>
          </a:p>
        </p:txBody>
      </p:sp>
      <p:sp>
        <p:nvSpPr>
          <p:cNvPr id="9" name="TextBox9"/>
          <p:cNvSpPr txBox="1"/>
          <p:nvPr/>
        </p:nvSpPr>
        <p:spPr>
          <a:xfrm>
            <a:off x="10058400" y="6556248"/>
            <a:ext cx="1600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lang="id-ID" sz="1000" b="1" i="0" dirty="0">
                <a:solidFill>
                  <a:srgbClr val="0F172A"/>
                </a:solidFill>
                <a:latin typeface="Calibri"/>
                <a:cs typeface="Calibri"/>
              </a:rPr>
              <a:t>Slide 8 / 13</a:t>
            </a:r>
          </a:p>
        </p:txBody>
      </p:sp>
      <p:sp>
        <p:nvSpPr>
          <p:cNvPr id="10" name="Rect10"/>
          <p:cNvSpPr/>
          <p:nvPr/>
        </p:nvSpPr>
        <p:spPr>
          <a:xfrm>
            <a:off x="502920" y="1298448"/>
            <a:ext cx="5577840" cy="4983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11"/>
          <p:cNvSpPr/>
          <p:nvPr/>
        </p:nvSpPr>
        <p:spPr>
          <a:xfrm>
            <a:off x="502920" y="1298448"/>
            <a:ext cx="5577840" cy="384048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Box12"/>
          <p:cNvSpPr txBox="1"/>
          <p:nvPr/>
        </p:nvSpPr>
        <p:spPr>
          <a:xfrm>
            <a:off x="667512" y="1344168"/>
            <a:ext cx="524865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3.3 Cuplikan Kode Inti (rental_film.c)</a:t>
            </a:r>
          </a:p>
        </p:txBody>
      </p:sp>
      <p:sp>
        <p:nvSpPr>
          <p:cNvPr id="13" name="TextBox13"/>
          <p:cNvSpPr txBox="1"/>
          <p:nvPr/>
        </p:nvSpPr>
        <p:spPr>
          <a:xfrm>
            <a:off x="640080" y="1737360"/>
            <a:ext cx="5303520" cy="448056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059669"/>
                </a:solidFill>
                <a:latin typeface="Consolas"/>
                <a:cs typeface="Consolas"/>
              </a:rPr>
              <a:t>/* Validasi pilihan film (do-while &amp; switch) */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1E293B"/>
                </a:solidFill>
                <a:latin typeface="Consolas"/>
                <a:cs typeface="Consolas"/>
              </a:rPr>
              <a:t>do {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1E293B"/>
                </a:solidFill>
                <a:latin typeface="Consolas"/>
                <a:cs typeface="Consolas"/>
              </a:rPr>
              <a:t>    valid = 0;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1E293B"/>
                </a:solidFill>
                <a:latin typeface="Consolas"/>
                <a:cs typeface="Consolas"/>
              </a:rPr>
              <a:t>    printf("\nPilih nomor film (1-5): ");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1E293B"/>
                </a:solidFill>
                <a:latin typeface="Consolas"/>
                <a:cs typeface="Consolas"/>
              </a:rPr>
              <a:t>    scanf("%d", &amp;pilih);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1E293B"/>
                </a:solidFill>
                <a:latin typeface="Consolas"/>
                <a:cs typeface="Consolas"/>
              </a:rPr>
              <a:t>    switch (pilih) {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1E293B"/>
                </a:solidFill>
                <a:latin typeface="Consolas"/>
                <a:cs typeface="Consolas"/>
              </a:rPr>
              <a:t>        case 1: if (STOK1) { strcpy(judul, JUDUL1);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1E293B"/>
                </a:solidFill>
                <a:latin typeface="Consolas"/>
                <a:cs typeface="Consolas"/>
              </a:rPr>
              <a:t>                harga = HARGA1; valid = 1; }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1E293B"/>
                </a:solidFill>
                <a:latin typeface="Consolas"/>
                <a:cs typeface="Consolas"/>
              </a:rPr>
              <a:t>                else printf("Film sedang dipinjam!\n"); break;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1E293B"/>
                </a:solidFill>
                <a:latin typeface="Consolas"/>
                <a:cs typeface="Consolas"/>
              </a:rPr>
              <a:t>        /* ... case 2 s/d 5 ... */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1E293B"/>
                </a:solidFill>
                <a:latin typeface="Consolas"/>
                <a:cs typeface="Consolas"/>
              </a:rPr>
              <a:t>    }</a:t>
            </a:r>
          </a:p>
          <a:p>
            <a:pPr algn="l">
              <a:spcAft>
                <a:spcPts val="600"/>
              </a:spcAft>
              <a:buNone/>
            </a:pPr>
            <a:r>
              <a:rPr lang="id-ID" sz="1000" b="0" i="0" dirty="0">
                <a:solidFill>
                  <a:srgbClr val="1E293B"/>
                </a:solidFill>
                <a:latin typeface="Consolas"/>
                <a:cs typeface="Consolas"/>
              </a:rPr>
              <a:t>} while (!valid);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059669"/>
                </a:solidFill>
                <a:latin typeface="Consolas"/>
                <a:cs typeface="Consolas"/>
              </a:rPr>
              <a:t>/* Perhitungan biaya &amp; denda (if-else) */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1E293B"/>
                </a:solidFill>
                <a:latin typeface="Consolas"/>
                <a:cs typeface="Consolas"/>
              </a:rPr>
              <a:t>biaya = harga * lama;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1E293B"/>
                </a:solidFill>
                <a:latin typeface="Consolas"/>
                <a:cs typeface="Consolas"/>
              </a:rPr>
              <a:t>if (hariKembali &gt; lama) {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1E293B"/>
                </a:solidFill>
                <a:latin typeface="Consolas"/>
                <a:cs typeface="Consolas"/>
              </a:rPr>
              <a:t>    denda = (hariKembali - lama) * DENDA_PER_HARI;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1E293B"/>
                </a:solidFill>
                <a:latin typeface="Consolas"/>
                <a:cs typeface="Consolas"/>
              </a:rPr>
              <a:t>    strcpy(status, "Terlambat");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1E293B"/>
                </a:solidFill>
                <a:latin typeface="Consolas"/>
                <a:cs typeface="Consolas"/>
              </a:rPr>
              <a:t>} else { denda = 0; strcpy(status, "Tepat waktu"); }</a:t>
            </a:r>
          </a:p>
        </p:txBody>
      </p:sp>
      <p:sp>
        <p:nvSpPr>
          <p:cNvPr id="14" name="Rect14"/>
          <p:cNvSpPr/>
          <p:nvPr/>
        </p:nvSpPr>
        <p:spPr>
          <a:xfrm>
            <a:off x="6263640" y="1298448"/>
            <a:ext cx="5303520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15"/>
          <p:cNvSpPr/>
          <p:nvPr/>
        </p:nvSpPr>
        <p:spPr>
          <a:xfrm>
            <a:off x="6263640" y="1298448"/>
            <a:ext cx="5303520" cy="384048"/>
          </a:xfrm>
          <a:prstGeom prst="roundRect">
            <a:avLst>
              <a:gd name="adj" fmla="val 4000"/>
            </a:avLst>
          </a:prstGeom>
          <a:solidFill>
            <a:srgbClr val="0284C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Box16"/>
          <p:cNvSpPr txBox="1"/>
          <p:nvPr/>
        </p:nvSpPr>
        <p:spPr>
          <a:xfrm>
            <a:off x="6428232" y="1344168"/>
            <a:ext cx="497433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3.4 Penjelasan Komponen Kode Program</a:t>
            </a:r>
          </a:p>
        </p:txBody>
      </p:sp>
      <p:sp>
        <p:nvSpPr>
          <p:cNvPr id="17" name="TextBox17"/>
          <p:cNvSpPr txBox="1"/>
          <p:nvPr/>
        </p:nvSpPr>
        <p:spPr>
          <a:xfrm>
            <a:off x="6400800" y="1737360"/>
            <a:ext cx="5029200" cy="448056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if : Mengecek apakah pelanggan ingin memperpanjang lama peminjaman (jawab == 'y' || jawab == 'Y').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if-else : Mengecek ketersediaan stok film (STOK1..5) serta menentukan apakah pengembalian Terlambat (hariKembali &gt; lama) atau Tepat waktu.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switch-case : Memilih data film ke-1 sampai ke-5 berdasarkan nomor yang diinput pelanggan.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do-while : Mengulang input pemilihan film selama pilihan tidak valid atau film sedang dipinjam (!valid).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Variabel &amp; Operator : Menggunakan tipe int dan char[]; operator aritmatika (*, +, -, +=), relasional (&gt;), logika (||, !), dan ternary (?:).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Input / Output : Menggunakan printf(), scanf(), dan strcpy().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2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3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Box4"/>
          <p:cNvSpPr txBox="1"/>
          <p:nvPr/>
        </p:nvSpPr>
        <p:spPr>
          <a:xfrm>
            <a:off x="502920" y="164592"/>
            <a:ext cx="2194560" cy="292608"/>
          </a:xfrm>
          <a:prstGeom prst="roundRect">
            <a:avLst>
              <a:gd name="adj" fmla="val 25000"/>
            </a:avLst>
          </a:prstGeom>
          <a:solidFill>
            <a:srgbClr val="38BDF8"/>
          </a:solidFill>
          <a:ln>
            <a:noFill/>
          </a:ln>
        </p:spPr>
        <p:txBody>
          <a:bodyPr wrap="square" lIns="30000" tIns="10000" rIns="30000" bIns="10000" anchor="ctr"/>
          <a:lstStyle/>
          <a:p>
            <a:pPr algn="ctr">
              <a:spcAft>
                <a:spcPts val="400"/>
              </a:spcAft>
              <a:buNone/>
            </a:pPr>
            <a:r>
              <a:rPr lang="id-ID" sz="1100" b="1" i="0" dirty="0">
                <a:solidFill>
                  <a:srgbClr val="0F172A"/>
                </a:solidFill>
                <a:latin typeface="Calibri"/>
                <a:cs typeface="Calibri"/>
              </a:rPr>
              <a:t>BAB IV</a:t>
            </a:r>
          </a:p>
        </p:txBody>
      </p:sp>
      <p:sp>
        <p:nvSpPr>
          <p:cNvPr id="5" name="TextBox5"/>
          <p:cNvSpPr txBox="1"/>
          <p:nvPr/>
        </p:nvSpPr>
        <p:spPr>
          <a:xfrm>
            <a:off x="502920" y="475488"/>
            <a:ext cx="96012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lang="id-ID" sz="2200" b="1" i="0" dirty="0">
                <a:solidFill>
                  <a:srgbClr val="FFFFFF"/>
                </a:solidFill>
                <a:latin typeface="Calibri"/>
                <a:cs typeface="Calibri"/>
              </a:rPr>
              <a:t>PEMBAGIAN KONTRIBUSI ANGGOTA KELOMPOK 3</a:t>
            </a:r>
          </a:p>
        </p:txBody>
      </p:sp>
      <p:sp>
        <p:nvSpPr>
          <p:cNvPr id="6" name="TextBox6"/>
          <p:cNvSpPr txBox="1"/>
          <p:nvPr/>
        </p:nvSpPr>
        <p:spPr>
          <a:xfrm>
            <a:off x="7498079" y="164592"/>
            <a:ext cx="41605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94A3B8"/>
                </a:solidFill>
                <a:latin typeface="Calibri"/>
                <a:cs typeface="Calibri"/>
              </a:rPr>
              <a:t>4.1 Mahasiswa 1, 4.2 Mahasiswa 2, dan 4.3 Mahasiswa 3</a:t>
            </a:r>
          </a:p>
        </p:txBody>
      </p:sp>
      <p:sp>
        <p:nvSpPr>
          <p:cNvPr id="7" name="Rect7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Box8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475569"/>
                </a:solidFill>
                <a:latin typeface="Calibri"/>
                <a:cs typeface="Calibri"/>
              </a:rPr>
              <a:t>Kelompok 3 — Sistem Rental Film (Bahasa C) | Mini Project Pemrograman Dasar</a:t>
            </a:r>
          </a:p>
        </p:txBody>
      </p:sp>
      <p:sp>
        <p:nvSpPr>
          <p:cNvPr id="9" name="TextBox9"/>
          <p:cNvSpPr txBox="1"/>
          <p:nvPr/>
        </p:nvSpPr>
        <p:spPr>
          <a:xfrm>
            <a:off x="10058400" y="6556248"/>
            <a:ext cx="1600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lang="id-ID" sz="1000" b="1" i="0" dirty="0">
                <a:solidFill>
                  <a:srgbClr val="0F172A"/>
                </a:solidFill>
                <a:latin typeface="Calibri"/>
                <a:cs typeface="Calibri"/>
              </a:rPr>
              <a:t>Slide 9 / 13</a:t>
            </a:r>
          </a:p>
        </p:txBody>
      </p:sp>
      <p:sp>
        <p:nvSpPr>
          <p:cNvPr id="10" name="Rect10"/>
          <p:cNvSpPr/>
          <p:nvPr/>
        </p:nvSpPr>
        <p:spPr>
          <a:xfrm>
            <a:off x="502920" y="1325880"/>
            <a:ext cx="3520440" cy="4937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11"/>
          <p:cNvSpPr/>
          <p:nvPr/>
        </p:nvSpPr>
        <p:spPr>
          <a:xfrm>
            <a:off x="502920" y="1325880"/>
            <a:ext cx="3520440" cy="384048"/>
          </a:xfrm>
          <a:prstGeom prst="roundRect">
            <a:avLst>
              <a:gd name="adj" fmla="val 4000"/>
            </a:avLst>
          </a:prstGeom>
          <a:solidFill>
            <a:srgbClr val="0284C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Box12"/>
          <p:cNvSpPr txBox="1"/>
          <p:nvPr/>
        </p:nvSpPr>
        <p:spPr>
          <a:xfrm>
            <a:off x="667512" y="1371600"/>
            <a:ext cx="319125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4.1 Mahasiswa 1 — Data &amp; Film</a:t>
            </a:r>
          </a:p>
        </p:txBody>
      </p:sp>
      <p:sp>
        <p:nvSpPr>
          <p:cNvPr id="13" name="TextBox13"/>
          <p:cNvSpPr txBox="1"/>
          <p:nvPr/>
        </p:nvSpPr>
        <p:spPr>
          <a:xfrm>
            <a:off x="640080" y="1764792"/>
            <a:ext cx="3246120" cy="443484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Nama / NRP : ................................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Tugas: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• Input ID dan nama pelanggan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• Menampilkan daftar 5 pilihan film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• Input &amp; validasi pilihan film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• Menggunakan perulangan do-while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Bagian Kode: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• Konstanta #define JUDUL1..5, HARGA1..5, STOK1..5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• Input id &amp; nama pelanggan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• Tabel daftar film &amp; blok do-while + switch(pilih)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Integrasi: Menyediakan variabel judul &amp; harga film terpilih untuk Mahasiswa 2.</a:t>
            </a:r>
          </a:p>
        </p:txBody>
      </p:sp>
      <p:sp>
        <p:nvSpPr>
          <p:cNvPr id="14" name="Rect14"/>
          <p:cNvSpPr/>
          <p:nvPr/>
        </p:nvSpPr>
        <p:spPr>
          <a:xfrm>
            <a:off x="4279392" y="1325880"/>
            <a:ext cx="3520440" cy="4937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15"/>
          <p:cNvSpPr/>
          <p:nvPr/>
        </p:nvSpPr>
        <p:spPr>
          <a:xfrm>
            <a:off x="4279392" y="1325880"/>
            <a:ext cx="3520440" cy="384048"/>
          </a:xfrm>
          <a:prstGeom prst="roundRect">
            <a:avLst>
              <a:gd name="adj" fmla="val 4000"/>
            </a:avLst>
          </a:prstGeom>
          <a:solidFill>
            <a:srgbClr val="7C3AE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Box16"/>
          <p:cNvSpPr txBox="1"/>
          <p:nvPr/>
        </p:nvSpPr>
        <p:spPr>
          <a:xfrm>
            <a:off x="4443984" y="1371600"/>
            <a:ext cx="319125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4.2 Mahasiswa 2 — Sewa &amp; Denda</a:t>
            </a:r>
          </a:p>
        </p:txBody>
      </p:sp>
      <p:sp>
        <p:nvSpPr>
          <p:cNvPr id="17" name="TextBox17"/>
          <p:cNvSpPr txBox="1"/>
          <p:nvPr/>
        </p:nvSpPr>
        <p:spPr>
          <a:xfrm>
            <a:off x="4416552" y="1764792"/>
            <a:ext cx="3246120" cy="443484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Nama / NRP : ................................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Tugas: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• Menentukan biaya sewa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• Menghitung lama peminjaman &amp; perpanjangan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• Menghitung denda keterlambatan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• Menentukan status pengembalian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Bagian Kode: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• Input lama &amp; perpanjangan (if jawab == 'y')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• Input hariKembali &amp; hitung biaya = harga * lama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• Blok if-else (hariKembali &gt; lama) untuk denda &amp; status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Integrasi: Menghasilkan nilai biaya, denda, &amp; status untuk Mahasiswa 3.</a:t>
            </a:r>
          </a:p>
        </p:txBody>
      </p:sp>
      <p:sp>
        <p:nvSpPr>
          <p:cNvPr id="18" name="Rect18"/>
          <p:cNvSpPr/>
          <p:nvPr/>
        </p:nvSpPr>
        <p:spPr>
          <a:xfrm>
            <a:off x="8046720" y="1325880"/>
            <a:ext cx="3520440" cy="4937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19"/>
          <p:cNvSpPr/>
          <p:nvPr/>
        </p:nvSpPr>
        <p:spPr>
          <a:xfrm>
            <a:off x="8046720" y="1325880"/>
            <a:ext cx="3520440" cy="384048"/>
          </a:xfrm>
          <a:prstGeom prst="roundRect">
            <a:avLst>
              <a:gd name="adj" fmla="val 4000"/>
            </a:avLst>
          </a:prstGeom>
          <a:solidFill>
            <a:srgbClr val="05966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Box20"/>
          <p:cNvSpPr txBox="1"/>
          <p:nvPr/>
        </p:nvSpPr>
        <p:spPr>
          <a:xfrm>
            <a:off x="8211312" y="1371600"/>
            <a:ext cx="319125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4.3 Mahasiswa 3 — Transaksi &amp; Uji</a:t>
            </a:r>
          </a:p>
        </p:txBody>
      </p:sp>
      <p:sp>
        <p:nvSpPr>
          <p:cNvPr id="21" name="TextBox21"/>
          <p:cNvSpPr txBox="1"/>
          <p:nvPr/>
        </p:nvSpPr>
        <p:spPr>
          <a:xfrm>
            <a:off x="8183880" y="1764792"/>
            <a:ext cx="3246120" cy="443484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Nama / NRP : ................................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Tugas: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• Menampilkan bukti rental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• Menampilkan biaya, denda, &amp; total bayar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• Menampilkan status film / pengembalian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• Menguji tepat waktu &amp; terlambat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Bagian Kode: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• Blok pencetakan BUKTI RENTAL lengkap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• Integrasi variabel dari Mahasiswa 1 &amp; 2 di main()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• Pengujian 5 skenario input &amp; batas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100" b="0" i="0" dirty="0">
                <a:solidFill>
                  <a:srgbClr val="1E293B"/>
                </a:solidFill>
                <a:latin typeface="Calibri"/>
                <a:cs typeface="Calibri"/>
              </a:rPr>
              <a:t>Integrasi: Menyatukan seluruh bagian kode menjadi satu program utuh.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2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3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Box4"/>
          <p:cNvSpPr txBox="1"/>
          <p:nvPr/>
        </p:nvSpPr>
        <p:spPr>
          <a:xfrm>
            <a:off x="502920" y="164592"/>
            <a:ext cx="2194560" cy="292608"/>
          </a:xfrm>
          <a:prstGeom prst="roundRect">
            <a:avLst>
              <a:gd name="adj" fmla="val 25000"/>
            </a:avLst>
          </a:prstGeom>
          <a:solidFill>
            <a:srgbClr val="38BDF8"/>
          </a:solidFill>
          <a:ln>
            <a:noFill/>
          </a:ln>
        </p:spPr>
        <p:txBody>
          <a:bodyPr wrap="square" lIns="30000" tIns="10000" rIns="30000" bIns="10000" anchor="ctr"/>
          <a:lstStyle/>
          <a:p>
            <a:pPr algn="ctr">
              <a:spcAft>
                <a:spcPts val="400"/>
              </a:spcAft>
              <a:buNone/>
            </a:pPr>
            <a:r>
              <a:rPr lang="id-ID" sz="1100" b="1" i="0" dirty="0">
                <a:solidFill>
                  <a:srgbClr val="0F172A"/>
                </a:solidFill>
                <a:latin typeface="Calibri"/>
                <a:cs typeface="Calibri"/>
              </a:rPr>
              <a:t>BAB V</a:t>
            </a:r>
          </a:p>
        </p:txBody>
      </p:sp>
      <p:sp>
        <p:nvSpPr>
          <p:cNvPr id="5" name="TextBox5"/>
          <p:cNvSpPr txBox="1"/>
          <p:nvPr/>
        </p:nvSpPr>
        <p:spPr>
          <a:xfrm>
            <a:off x="502920" y="475488"/>
            <a:ext cx="96012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lang="id-ID" sz="2200" b="1" i="0" dirty="0">
                <a:solidFill>
                  <a:srgbClr val="FFFFFF"/>
                </a:solidFill>
                <a:latin typeface="Calibri"/>
                <a:cs typeface="Calibri"/>
              </a:rPr>
              <a:t>PENGUJIAN PROGRAM: 5 SKENARIO PENGUJIAN</a:t>
            </a:r>
          </a:p>
        </p:txBody>
      </p:sp>
      <p:sp>
        <p:nvSpPr>
          <p:cNvPr id="6" name="TextBox6"/>
          <p:cNvSpPr txBox="1"/>
          <p:nvPr/>
        </p:nvSpPr>
        <p:spPr>
          <a:xfrm>
            <a:off x="7498079" y="164592"/>
            <a:ext cx="41605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94A3B8"/>
                </a:solidFill>
                <a:latin typeface="Calibri"/>
                <a:cs typeface="Calibri"/>
              </a:rPr>
              <a:t>5.1 Tabel Skenario Pengujian Program Rental Film</a:t>
            </a:r>
          </a:p>
        </p:txBody>
      </p:sp>
      <p:sp>
        <p:nvSpPr>
          <p:cNvPr id="7" name="Rect7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Box8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475569"/>
                </a:solidFill>
                <a:latin typeface="Calibri"/>
                <a:cs typeface="Calibri"/>
              </a:rPr>
              <a:t>Kelompok 3 — Sistem Rental Film (Bahasa C) | Mini Project Pemrograman Dasar</a:t>
            </a:r>
          </a:p>
        </p:txBody>
      </p:sp>
      <p:sp>
        <p:nvSpPr>
          <p:cNvPr id="9" name="TextBox9"/>
          <p:cNvSpPr txBox="1"/>
          <p:nvPr/>
        </p:nvSpPr>
        <p:spPr>
          <a:xfrm>
            <a:off x="10058400" y="6556248"/>
            <a:ext cx="1600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lang="id-ID" sz="1000" b="1" i="0" dirty="0">
                <a:solidFill>
                  <a:srgbClr val="0F172A"/>
                </a:solidFill>
                <a:latin typeface="Calibri"/>
                <a:cs typeface="Calibri"/>
              </a:rPr>
              <a:t>Slide 10 / 13</a:t>
            </a:r>
          </a:p>
        </p:txBody>
      </p:sp>
      <p:sp>
        <p:nvSpPr>
          <p:cNvPr id="10" name="Rect10"/>
          <p:cNvSpPr/>
          <p:nvPr/>
        </p:nvSpPr>
        <p:spPr>
          <a:xfrm>
            <a:off x="502920" y="1280160"/>
            <a:ext cx="11064240" cy="914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11"/>
          <p:cNvSpPr/>
          <p:nvPr/>
        </p:nvSpPr>
        <p:spPr>
          <a:xfrm>
            <a:off x="502920" y="1280160"/>
            <a:ext cx="2606040" cy="914400"/>
          </a:xfrm>
          <a:prstGeom prst="roundRect">
            <a:avLst>
              <a:gd name="adj" fmla="val 3000"/>
            </a:avLst>
          </a:prstGeom>
          <a:solidFill>
            <a:srgbClr val="05966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Box12"/>
          <p:cNvSpPr txBox="1"/>
          <p:nvPr/>
        </p:nvSpPr>
        <p:spPr>
          <a:xfrm>
            <a:off x="594360" y="1371600"/>
            <a:ext cx="242316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lang="id-ID" sz="1200" b="1" i="0" dirty="0">
                <a:solidFill>
                  <a:srgbClr val="FFFFFF"/>
                </a:solidFill>
                <a:latin typeface="Calibri"/>
                <a:cs typeface="Calibri"/>
              </a:rPr>
              <a:t>1. Peminjaman Tepat Waktu</a:t>
            </a:r>
          </a:p>
        </p:txBody>
      </p:sp>
      <p:sp>
        <p:nvSpPr>
          <p:cNvPr id="13" name="TextBox13"/>
          <p:cNvSpPr txBox="1"/>
          <p:nvPr/>
        </p:nvSpPr>
        <p:spPr>
          <a:xfrm>
            <a:off x="3246120" y="1353312"/>
            <a:ext cx="82296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  <a:buNone/>
            </a:pPr>
            <a:r>
              <a:rPr lang="id-ID" sz="1100" b="1" i="0" dirty="0">
                <a:solidFill>
                  <a:srgbClr val="0F172A"/>
                </a:solidFill>
                <a:latin typeface="Calibri"/>
                <a:cs typeface="Calibri"/>
              </a:rPr>
              <a:t>Input      : Pilih Film = 1 (Avengers Rp5000), Lama = 3 hari, Perpanjang = n, Kembali = hari ke-3</a:t>
            </a:r>
          </a:p>
          <a:p>
            <a:pPr algn="l">
              <a:spcAft>
                <a:spcPts val="200"/>
              </a:spcAft>
              <a:buNone/>
            </a:pPr>
            <a:r>
              <a:rPr lang="id-ID" sz="1100" b="0" i="0" dirty="0">
                <a:solidFill>
                  <a:srgbClr val="475569"/>
                </a:solidFill>
                <a:latin typeface="Calibri"/>
                <a:cs typeface="Calibri"/>
              </a:rPr>
              <a:t>Diharapkan: Biaya Rp15000, Denda Rp0, Total Rp15000, Status: Tepat waktu</a:t>
            </a:r>
          </a:p>
          <a:p>
            <a:pPr algn="l">
              <a:spcAft>
                <a:spcPts val="0"/>
              </a:spcAft>
              <a:buNone/>
            </a:pPr>
            <a:r>
              <a:rPr lang="id-ID" sz="1100" b="1" i="0" dirty="0">
                <a:solidFill>
                  <a:srgbClr val="059669"/>
                </a:solidFill>
                <a:latin typeface="Calibri"/>
                <a:cs typeface="Calibri"/>
              </a:rPr>
              <a:t>Aktual: Biaya Rp15000, Denda Rp0, Total Rp15000, Status: Tepat waktu  [BERHASIL]</a:t>
            </a:r>
          </a:p>
        </p:txBody>
      </p:sp>
      <p:sp>
        <p:nvSpPr>
          <p:cNvPr id="14" name="Rect14"/>
          <p:cNvSpPr/>
          <p:nvPr/>
        </p:nvSpPr>
        <p:spPr>
          <a:xfrm>
            <a:off x="502920" y="2286000"/>
            <a:ext cx="11064240" cy="914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15"/>
          <p:cNvSpPr/>
          <p:nvPr/>
        </p:nvSpPr>
        <p:spPr>
          <a:xfrm>
            <a:off x="502920" y="2286000"/>
            <a:ext cx="2606040" cy="914400"/>
          </a:xfrm>
          <a:prstGeom prst="roundRect">
            <a:avLst>
              <a:gd name="adj" fmla="val 3000"/>
            </a:avLst>
          </a:prstGeom>
          <a:solidFill>
            <a:srgbClr val="0284C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Box16"/>
          <p:cNvSpPr txBox="1"/>
          <p:nvPr/>
        </p:nvSpPr>
        <p:spPr>
          <a:xfrm>
            <a:off x="594360" y="2377440"/>
            <a:ext cx="242316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lang="id-ID" sz="1200" b="1" i="0" dirty="0">
                <a:solidFill>
                  <a:srgbClr val="FFFFFF"/>
                </a:solidFill>
                <a:latin typeface="Calibri"/>
                <a:cs typeface="Calibri"/>
              </a:rPr>
              <a:t>2. Pilihan Nomor Tidak Valid</a:t>
            </a:r>
          </a:p>
        </p:txBody>
      </p:sp>
      <p:sp>
        <p:nvSpPr>
          <p:cNvPr id="17" name="TextBox17"/>
          <p:cNvSpPr txBox="1"/>
          <p:nvPr/>
        </p:nvSpPr>
        <p:spPr>
          <a:xfrm>
            <a:off x="3246120" y="2359152"/>
            <a:ext cx="82296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  <a:buNone/>
            </a:pPr>
            <a:r>
              <a:rPr lang="id-ID" sz="1100" b="1" i="0" dirty="0">
                <a:solidFill>
                  <a:srgbClr val="0F172A"/>
                </a:solidFill>
                <a:latin typeface="Calibri"/>
                <a:cs typeface="Calibri"/>
              </a:rPr>
              <a:t>Input      : Pilih Nomor Film = 9 (di luar rentang 1-5)</a:t>
            </a:r>
          </a:p>
          <a:p>
            <a:pPr algn="l">
              <a:spcAft>
                <a:spcPts val="200"/>
              </a:spcAft>
              <a:buNone/>
            </a:pPr>
            <a:r>
              <a:rPr lang="id-ID" sz="1100" b="0" i="0" dirty="0">
                <a:solidFill>
                  <a:srgbClr val="475569"/>
                </a:solidFill>
                <a:latin typeface="Calibri"/>
                <a:cs typeface="Calibri"/>
              </a:rPr>
              <a:t>Diharapkan: Muncul pesan 'Nomor tidak valid, ulangi!' dan meminta input ulang</a:t>
            </a:r>
          </a:p>
          <a:p>
            <a:pPr algn="l">
              <a:spcAft>
                <a:spcPts val="0"/>
              </a:spcAft>
              <a:buNone/>
            </a:pPr>
            <a:r>
              <a:rPr lang="id-ID" sz="1100" b="1" i="0" dirty="0">
                <a:solidFill>
                  <a:srgbClr val="059669"/>
                </a:solidFill>
                <a:latin typeface="Calibri"/>
                <a:cs typeface="Calibri"/>
              </a:rPr>
              <a:t>Aktual: Muncul 'Nomor tidak valid, ulangi!' dan do-while mengulang input  [BERHASIL]</a:t>
            </a:r>
          </a:p>
        </p:txBody>
      </p:sp>
      <p:sp>
        <p:nvSpPr>
          <p:cNvPr id="18" name="Rect18"/>
          <p:cNvSpPr/>
          <p:nvPr/>
        </p:nvSpPr>
        <p:spPr>
          <a:xfrm>
            <a:off x="502920" y="3291840"/>
            <a:ext cx="11064240" cy="914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19"/>
          <p:cNvSpPr/>
          <p:nvPr/>
        </p:nvSpPr>
        <p:spPr>
          <a:xfrm>
            <a:off x="502920" y="3291840"/>
            <a:ext cx="2606040" cy="914400"/>
          </a:xfrm>
          <a:prstGeom prst="roundRect">
            <a:avLst>
              <a:gd name="adj" fmla="val 3000"/>
            </a:avLst>
          </a:prstGeom>
          <a:solidFill>
            <a:srgbClr val="D9770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Box20"/>
          <p:cNvSpPr txBox="1"/>
          <p:nvPr/>
        </p:nvSpPr>
        <p:spPr>
          <a:xfrm>
            <a:off x="594360" y="3383280"/>
            <a:ext cx="242316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lang="id-ID" sz="1200" b="1" i="0" dirty="0">
                <a:solidFill>
                  <a:srgbClr val="FFFFFF"/>
                </a:solidFill>
                <a:latin typeface="Calibri"/>
                <a:cs typeface="Calibri"/>
              </a:rPr>
              <a:t>3. Pilih Film Sedang Dipinjam</a:t>
            </a:r>
          </a:p>
        </p:txBody>
      </p:sp>
      <p:sp>
        <p:nvSpPr>
          <p:cNvPr id="21" name="TextBox21"/>
          <p:cNvSpPr txBox="1"/>
          <p:nvPr/>
        </p:nvSpPr>
        <p:spPr>
          <a:xfrm>
            <a:off x="3246120" y="3364992"/>
            <a:ext cx="82296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  <a:buNone/>
            </a:pPr>
            <a:r>
              <a:rPr lang="id-ID" sz="1100" b="1" i="0" dirty="0">
                <a:solidFill>
                  <a:srgbClr val="0F172A"/>
                </a:solidFill>
                <a:latin typeface="Calibri"/>
                <a:cs typeface="Calibri"/>
              </a:rPr>
              <a:t>Input      : Pilih Nomor Film = 3 (Interstellar, STOK3 = 0 / Dipinjam)</a:t>
            </a:r>
          </a:p>
          <a:p>
            <a:pPr algn="l">
              <a:spcAft>
                <a:spcPts val="200"/>
              </a:spcAft>
              <a:buNone/>
            </a:pPr>
            <a:r>
              <a:rPr lang="id-ID" sz="1100" b="0" i="0" dirty="0">
                <a:solidFill>
                  <a:srgbClr val="475569"/>
                </a:solidFill>
                <a:latin typeface="Calibri"/>
                <a:cs typeface="Calibri"/>
              </a:rPr>
              <a:t>Diharapkan: Ditolak dengan pesan 'Film sedang dipinjam, pilih yang lain!'</a:t>
            </a:r>
          </a:p>
          <a:p>
            <a:pPr algn="l">
              <a:spcAft>
                <a:spcPts val="0"/>
              </a:spcAft>
              <a:buNone/>
            </a:pPr>
            <a:r>
              <a:rPr lang="id-ID" sz="1100" b="1" i="0" dirty="0">
                <a:solidFill>
                  <a:srgbClr val="059669"/>
                </a:solidFill>
                <a:latin typeface="Calibri"/>
                <a:cs typeface="Calibri"/>
              </a:rPr>
              <a:t>Aktual: Pesan tampil dan pengguna diminta memilih film lain  [BERHASIL]</a:t>
            </a:r>
          </a:p>
        </p:txBody>
      </p:sp>
      <p:sp>
        <p:nvSpPr>
          <p:cNvPr id="22" name="Rect22"/>
          <p:cNvSpPr/>
          <p:nvPr/>
        </p:nvSpPr>
        <p:spPr>
          <a:xfrm>
            <a:off x="502920" y="4297680"/>
            <a:ext cx="11064240" cy="914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23"/>
          <p:cNvSpPr/>
          <p:nvPr/>
        </p:nvSpPr>
        <p:spPr>
          <a:xfrm>
            <a:off x="502920" y="4297680"/>
            <a:ext cx="2606040" cy="914400"/>
          </a:xfrm>
          <a:prstGeom prst="roundRect">
            <a:avLst>
              <a:gd name="adj" fmla="val 3000"/>
            </a:avLst>
          </a:prstGeom>
          <a:solidFill>
            <a:srgbClr val="7C3AE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Box24"/>
          <p:cNvSpPr txBox="1"/>
          <p:nvPr/>
        </p:nvSpPr>
        <p:spPr>
          <a:xfrm>
            <a:off x="594360" y="4389120"/>
            <a:ext cx="242316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lang="id-ID" sz="1200" b="1" i="0" dirty="0">
                <a:solidFill>
                  <a:srgbClr val="FFFFFF"/>
                </a:solidFill>
                <a:latin typeface="Calibri"/>
                <a:cs typeface="Calibri"/>
              </a:rPr>
              <a:t>4. Perpanjangan Masa Sewa</a:t>
            </a:r>
          </a:p>
        </p:txBody>
      </p:sp>
      <p:sp>
        <p:nvSpPr>
          <p:cNvPr id="25" name="TextBox25"/>
          <p:cNvSpPr txBox="1"/>
          <p:nvPr/>
        </p:nvSpPr>
        <p:spPr>
          <a:xfrm>
            <a:off x="3246120" y="4370832"/>
            <a:ext cx="82296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  <a:buNone/>
            </a:pPr>
            <a:r>
              <a:rPr lang="id-ID" sz="1100" b="1" i="0" dirty="0">
                <a:solidFill>
                  <a:srgbClr val="0F172A"/>
                </a:solidFill>
                <a:latin typeface="Calibri"/>
                <a:cs typeface="Calibri"/>
              </a:rPr>
              <a:t>Input      : Pilih Film = 2 (Rp6000), Lama awal = 2 hari, Perpanjang = y (+2 hari), Kembali = hari ke-4</a:t>
            </a:r>
          </a:p>
          <a:p>
            <a:pPr algn="l">
              <a:spcAft>
                <a:spcPts val="200"/>
              </a:spcAft>
              <a:buNone/>
            </a:pPr>
            <a:r>
              <a:rPr lang="id-ID" sz="1100" b="0" i="0" dirty="0">
                <a:solidFill>
                  <a:srgbClr val="475569"/>
                </a:solidFill>
                <a:latin typeface="Calibri"/>
                <a:cs typeface="Calibri"/>
              </a:rPr>
              <a:t>Diharapkan: Lama pinjam jadi 4 hari, Biaya Rp24000, Denda Rp0, Status: Tepat waktu</a:t>
            </a:r>
          </a:p>
          <a:p>
            <a:pPr algn="l">
              <a:spcAft>
                <a:spcPts val="0"/>
              </a:spcAft>
              <a:buNone/>
            </a:pPr>
            <a:r>
              <a:rPr lang="id-ID" sz="1100" b="1" i="0" dirty="0">
                <a:solidFill>
                  <a:srgbClr val="059669"/>
                </a:solidFill>
                <a:latin typeface="Calibri"/>
                <a:cs typeface="Calibri"/>
              </a:rPr>
              <a:t>Aktual: Lama pinjam 4 hari, Biaya Rp24000, Denda Rp0, Tepat waktu  [BERHASIL]</a:t>
            </a:r>
          </a:p>
        </p:txBody>
      </p:sp>
      <p:sp>
        <p:nvSpPr>
          <p:cNvPr id="26" name="Rect26"/>
          <p:cNvSpPr/>
          <p:nvPr/>
        </p:nvSpPr>
        <p:spPr>
          <a:xfrm>
            <a:off x="502920" y="5303520"/>
            <a:ext cx="11064240" cy="914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27"/>
          <p:cNvSpPr/>
          <p:nvPr/>
        </p:nvSpPr>
        <p:spPr>
          <a:xfrm>
            <a:off x="502920" y="5303520"/>
            <a:ext cx="2606040" cy="914400"/>
          </a:xfrm>
          <a:prstGeom prst="roundRect">
            <a:avLst>
              <a:gd name="adj" fmla="val 3000"/>
            </a:avLst>
          </a:prstGeom>
          <a:solidFill>
            <a:srgbClr val="DC262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Box28"/>
          <p:cNvSpPr txBox="1"/>
          <p:nvPr/>
        </p:nvSpPr>
        <p:spPr>
          <a:xfrm>
            <a:off x="594360" y="5394960"/>
            <a:ext cx="242316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lang="id-ID" sz="1200" b="1" i="0" dirty="0">
                <a:solidFill>
                  <a:srgbClr val="FFFFFF"/>
                </a:solidFill>
                <a:latin typeface="Calibri"/>
                <a:cs typeface="Calibri"/>
              </a:rPr>
              <a:t>5. Pengembalian Terlambat</a:t>
            </a:r>
          </a:p>
        </p:txBody>
      </p:sp>
      <p:sp>
        <p:nvSpPr>
          <p:cNvPr id="29" name="TextBox29"/>
          <p:cNvSpPr txBox="1"/>
          <p:nvPr/>
        </p:nvSpPr>
        <p:spPr>
          <a:xfrm>
            <a:off x="3246120" y="5376672"/>
            <a:ext cx="82296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  <a:buNone/>
            </a:pPr>
            <a:r>
              <a:rPr lang="id-ID" sz="1100" b="1" i="0" dirty="0">
                <a:solidFill>
                  <a:srgbClr val="0F172A"/>
                </a:solidFill>
                <a:latin typeface="Calibri"/>
                <a:cs typeface="Calibri"/>
              </a:rPr>
              <a:t>Input      : Pilih Film = 5 (Inception Rp6500), Lama = 2 hari, Perpanjang = n, Kembali = hari ke-5</a:t>
            </a:r>
          </a:p>
          <a:p>
            <a:pPr algn="l">
              <a:spcAft>
                <a:spcPts val="200"/>
              </a:spcAft>
              <a:buNone/>
            </a:pPr>
            <a:r>
              <a:rPr lang="id-ID" sz="1100" b="0" i="0" dirty="0">
                <a:solidFill>
                  <a:srgbClr val="475569"/>
                </a:solidFill>
                <a:latin typeface="Calibri"/>
                <a:cs typeface="Calibri"/>
              </a:rPr>
              <a:t>Diharapkan: Terlambat 3 hari -&gt; Denda Rp6000, Biaya Rp13000, Total Rp19000, Terlambat</a:t>
            </a:r>
          </a:p>
          <a:p>
            <a:pPr algn="l">
              <a:spcAft>
                <a:spcPts val="0"/>
              </a:spcAft>
              <a:buNone/>
            </a:pPr>
            <a:r>
              <a:rPr lang="id-ID" sz="1100" b="1" i="0" dirty="0">
                <a:solidFill>
                  <a:srgbClr val="059669"/>
                </a:solidFill>
                <a:latin typeface="Calibri"/>
                <a:cs typeface="Calibri"/>
              </a:rPr>
              <a:t>Aktual: Biaya Rp13000, Denda Rp6000, Total Rp19000, Status: Terlambat  [BERHASIL]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2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3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Box4"/>
          <p:cNvSpPr txBox="1"/>
          <p:nvPr/>
        </p:nvSpPr>
        <p:spPr>
          <a:xfrm>
            <a:off x="502920" y="164592"/>
            <a:ext cx="2194560" cy="292608"/>
          </a:xfrm>
          <a:prstGeom prst="roundRect">
            <a:avLst>
              <a:gd name="adj" fmla="val 25000"/>
            </a:avLst>
          </a:prstGeom>
          <a:solidFill>
            <a:srgbClr val="38BDF8"/>
          </a:solidFill>
          <a:ln>
            <a:noFill/>
          </a:ln>
        </p:spPr>
        <p:txBody>
          <a:bodyPr wrap="square" lIns="30000" tIns="10000" rIns="30000" bIns="10000" anchor="ctr"/>
          <a:lstStyle/>
          <a:p>
            <a:pPr algn="ctr">
              <a:spcAft>
                <a:spcPts val="400"/>
              </a:spcAft>
              <a:buNone/>
            </a:pPr>
            <a:r>
              <a:rPr lang="id-ID" sz="1100" b="1" i="0" dirty="0">
                <a:solidFill>
                  <a:srgbClr val="0F172A"/>
                </a:solidFill>
                <a:latin typeface="Calibri"/>
                <a:cs typeface="Calibri"/>
              </a:rPr>
              <a:t>BAB V</a:t>
            </a:r>
          </a:p>
        </p:txBody>
      </p:sp>
      <p:sp>
        <p:nvSpPr>
          <p:cNvPr id="5" name="TextBox5"/>
          <p:cNvSpPr txBox="1"/>
          <p:nvPr/>
        </p:nvSpPr>
        <p:spPr>
          <a:xfrm>
            <a:off x="502920" y="475488"/>
            <a:ext cx="96012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lang="id-ID" sz="2200" b="1" i="0" dirty="0">
                <a:solidFill>
                  <a:srgbClr val="FFFFFF"/>
                </a:solidFill>
                <a:latin typeface="Calibri"/>
                <a:cs typeface="Calibri"/>
              </a:rPr>
              <a:t>BUKTI PENGUJIAN: OUTPUT TEPAT WAKTU &amp; TERLAMBAT</a:t>
            </a:r>
          </a:p>
        </p:txBody>
      </p:sp>
      <p:sp>
        <p:nvSpPr>
          <p:cNvPr id="6" name="TextBox6"/>
          <p:cNvSpPr txBox="1"/>
          <p:nvPr/>
        </p:nvSpPr>
        <p:spPr>
          <a:xfrm>
            <a:off x="7498079" y="164592"/>
            <a:ext cx="41605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94A3B8"/>
                </a:solidFill>
                <a:latin typeface="Calibri"/>
                <a:cs typeface="Calibri"/>
              </a:rPr>
              <a:t>5.2 Hasil Running Program rental_film.c</a:t>
            </a:r>
          </a:p>
        </p:txBody>
      </p:sp>
      <p:sp>
        <p:nvSpPr>
          <p:cNvPr id="7" name="Rect7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Box8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475569"/>
                </a:solidFill>
                <a:latin typeface="Calibri"/>
                <a:cs typeface="Calibri"/>
              </a:rPr>
              <a:t>Kelompok 3 — Sistem Rental Film (Bahasa C) | Mini Project Pemrograman Dasar</a:t>
            </a:r>
          </a:p>
        </p:txBody>
      </p:sp>
      <p:sp>
        <p:nvSpPr>
          <p:cNvPr id="9" name="TextBox9"/>
          <p:cNvSpPr txBox="1"/>
          <p:nvPr/>
        </p:nvSpPr>
        <p:spPr>
          <a:xfrm>
            <a:off x="10058400" y="6556248"/>
            <a:ext cx="1600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lang="id-ID" sz="1000" b="1" i="0" dirty="0">
                <a:solidFill>
                  <a:srgbClr val="0F172A"/>
                </a:solidFill>
                <a:latin typeface="Calibri"/>
                <a:cs typeface="Calibri"/>
              </a:rPr>
              <a:t>Slide 11 / 13</a:t>
            </a:r>
          </a:p>
        </p:txBody>
      </p:sp>
      <p:sp>
        <p:nvSpPr>
          <p:cNvPr id="10" name="Rect10"/>
          <p:cNvSpPr/>
          <p:nvPr/>
        </p:nvSpPr>
        <p:spPr>
          <a:xfrm>
            <a:off x="502920" y="1298448"/>
            <a:ext cx="5394960" cy="498348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 w="12700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11"/>
          <p:cNvSpPr/>
          <p:nvPr/>
        </p:nvSpPr>
        <p:spPr>
          <a:xfrm>
            <a:off x="502920" y="1298448"/>
            <a:ext cx="5394960" cy="384048"/>
          </a:xfrm>
          <a:prstGeom prst="roundRect">
            <a:avLst>
              <a:gd name="adj" fmla="val 4000"/>
            </a:avLst>
          </a:prstGeom>
          <a:solidFill>
            <a:srgbClr val="05966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Box12"/>
          <p:cNvSpPr txBox="1"/>
          <p:nvPr/>
        </p:nvSpPr>
        <p:spPr>
          <a:xfrm>
            <a:off x="667512" y="1344168"/>
            <a:ext cx="5065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Pengujian 1 — Peminjaman Tepat Waktu</a:t>
            </a:r>
          </a:p>
        </p:txBody>
      </p:sp>
      <p:sp>
        <p:nvSpPr>
          <p:cNvPr id="13" name="TextBox13"/>
          <p:cNvSpPr txBox="1"/>
          <p:nvPr/>
        </p:nvSpPr>
        <p:spPr>
          <a:xfrm>
            <a:off x="640080" y="1737360"/>
            <a:ext cx="5120640" cy="448056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CBD5E1"/>
                </a:solidFill>
                <a:latin typeface="Consolas"/>
                <a:cs typeface="Consolas"/>
              </a:rPr>
              <a:t>Masukkan ID pelanggan   : 101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CBD5E1"/>
                </a:solidFill>
                <a:latin typeface="Consolas"/>
                <a:cs typeface="Consolas"/>
              </a:rPr>
              <a:t>Masukkan nama pelanggan : Budi Santoso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CBD5E1"/>
                </a:solidFill>
                <a:latin typeface="Consolas"/>
                <a:cs typeface="Consolas"/>
              </a:rPr>
              <a:t>Pilih nomor film (1-5)  : 1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38BDF8"/>
                </a:solidFill>
                <a:latin typeface="Consolas"/>
                <a:cs typeface="Consolas"/>
              </a:rPr>
              <a:t>Anda memilih: Avengers: Endgame (Rp5000/hari)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CBD5E1"/>
                </a:solidFill>
                <a:latin typeface="Consolas"/>
                <a:cs typeface="Consolas"/>
              </a:rPr>
              <a:t>Lama peminjaman (hari)  : 3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CBD5E1"/>
                </a:solidFill>
                <a:latin typeface="Consolas"/>
                <a:cs typeface="Consolas"/>
              </a:rPr>
              <a:t>Perpanjang peminjaman? (y/n): n</a:t>
            </a:r>
          </a:p>
          <a:p>
            <a:pPr algn="l">
              <a:spcAft>
                <a:spcPts val="600"/>
              </a:spcAft>
              <a:buNone/>
            </a:pPr>
            <a:r>
              <a:rPr lang="id-ID" sz="1000" b="0" i="0" dirty="0">
                <a:solidFill>
                  <a:srgbClr val="CBD5E1"/>
                </a:solidFill>
                <a:latin typeface="Consolas"/>
                <a:cs typeface="Consolas"/>
              </a:rPr>
              <a:t>Film dikembalikan pada hari ke-: 3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1" i="0" dirty="0">
                <a:solidFill>
                  <a:srgbClr val="4ADE80"/>
                </a:solidFill>
                <a:latin typeface="Consolas"/>
                <a:cs typeface="Consolas"/>
              </a:rPr>
              <a:t>========== BUKTI RENTAL ==========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FFFFFF"/>
                </a:solidFill>
                <a:latin typeface="Consolas"/>
                <a:cs typeface="Consolas"/>
              </a:rPr>
              <a:t>ID / Nama    : 101 / Budi Santoso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FFFFFF"/>
                </a:solidFill>
                <a:latin typeface="Consolas"/>
                <a:cs typeface="Consolas"/>
              </a:rPr>
              <a:t>Film         : Avengers: Endgame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FFFFFF"/>
                </a:solidFill>
                <a:latin typeface="Consolas"/>
                <a:cs typeface="Consolas"/>
              </a:rPr>
              <a:t>Biaya/hari   : Rp5000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FFFFFF"/>
                </a:solidFill>
                <a:latin typeface="Consolas"/>
                <a:cs typeface="Consolas"/>
              </a:rPr>
              <a:t>Lama pinjam  : 3 hari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FFFFFF"/>
                </a:solidFill>
                <a:latin typeface="Consolas"/>
                <a:cs typeface="Consolas"/>
              </a:rPr>
              <a:t>Dikembalikan : hari ke-3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FFFFFF"/>
                </a:solidFill>
                <a:latin typeface="Consolas"/>
                <a:cs typeface="Consolas"/>
              </a:rPr>
              <a:t>Biaya sewa   : Rp15000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FFFFFF"/>
                </a:solidFill>
                <a:latin typeface="Consolas"/>
                <a:cs typeface="Consolas"/>
              </a:rPr>
              <a:t>Denda        : Rp0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1" i="0" dirty="0">
                <a:solidFill>
                  <a:srgbClr val="4ADE80"/>
                </a:solidFill>
                <a:latin typeface="Consolas"/>
                <a:cs typeface="Consolas"/>
              </a:rPr>
              <a:t>Total bayar  : Rp15000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1" i="0" dirty="0">
                <a:solidFill>
                  <a:srgbClr val="4ADE80"/>
                </a:solidFill>
                <a:latin typeface="Consolas"/>
                <a:cs typeface="Consolas"/>
              </a:rPr>
              <a:t>Status       : Tepat waktu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4ADE80"/>
                </a:solidFill>
                <a:latin typeface="Consolas"/>
                <a:cs typeface="Consolas"/>
              </a:rPr>
              <a:t>==================================</a:t>
            </a:r>
          </a:p>
        </p:txBody>
      </p:sp>
      <p:sp>
        <p:nvSpPr>
          <p:cNvPr id="14" name="Rect14"/>
          <p:cNvSpPr/>
          <p:nvPr/>
        </p:nvSpPr>
        <p:spPr>
          <a:xfrm>
            <a:off x="6172200" y="1298448"/>
            <a:ext cx="5394960" cy="498348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 w="12700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15"/>
          <p:cNvSpPr/>
          <p:nvPr/>
        </p:nvSpPr>
        <p:spPr>
          <a:xfrm>
            <a:off x="6172200" y="1298448"/>
            <a:ext cx="5394960" cy="384048"/>
          </a:xfrm>
          <a:prstGeom prst="roundRect">
            <a:avLst>
              <a:gd name="adj" fmla="val 4000"/>
            </a:avLst>
          </a:prstGeom>
          <a:solidFill>
            <a:srgbClr val="DC262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Box16"/>
          <p:cNvSpPr txBox="1"/>
          <p:nvPr/>
        </p:nvSpPr>
        <p:spPr>
          <a:xfrm>
            <a:off x="6336792" y="1344168"/>
            <a:ext cx="5065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Pengujian 2 — Validasi Stok &amp; Pengembalian Terlambat</a:t>
            </a:r>
          </a:p>
        </p:txBody>
      </p:sp>
      <p:sp>
        <p:nvSpPr>
          <p:cNvPr id="17" name="TextBox17"/>
          <p:cNvSpPr txBox="1"/>
          <p:nvPr/>
        </p:nvSpPr>
        <p:spPr>
          <a:xfrm>
            <a:off x="6309360" y="1737360"/>
            <a:ext cx="5120640" cy="448056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CBD5E1"/>
                </a:solidFill>
                <a:latin typeface="Consolas"/>
                <a:cs typeface="Consolas"/>
              </a:rPr>
              <a:t>Masukkan ID pelanggan   : 102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CBD5E1"/>
                </a:solidFill>
                <a:latin typeface="Consolas"/>
                <a:cs typeface="Consolas"/>
              </a:rPr>
              <a:t>Masukkan nama pelanggan : Siti Aminah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CBD5E1"/>
                </a:solidFill>
                <a:latin typeface="Consolas"/>
                <a:cs typeface="Consolas"/>
              </a:rPr>
              <a:t>Pilih nomor film (1-5)  : 3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F87171"/>
                </a:solidFill>
                <a:latin typeface="Consolas"/>
                <a:cs typeface="Consolas"/>
              </a:rPr>
              <a:t>Film sedang dipinjam, pilih yang lain!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CBD5E1"/>
                </a:solidFill>
                <a:latin typeface="Consolas"/>
                <a:cs typeface="Consolas"/>
              </a:rPr>
              <a:t>Pilih nomor film (1-5)  : 5</a:t>
            </a:r>
          </a:p>
          <a:p>
            <a:pPr algn="l">
              <a:spcAft>
                <a:spcPts val="600"/>
              </a:spcAft>
              <a:buNone/>
            </a:pPr>
            <a:r>
              <a:rPr lang="id-ID" sz="1000" b="0" i="0" dirty="0">
                <a:solidFill>
                  <a:srgbClr val="CBD5E1"/>
                </a:solidFill>
                <a:latin typeface="Consolas"/>
                <a:cs typeface="Consolas"/>
              </a:rPr>
              <a:t>Lama peminjaman: 2 | Perpanjang: n | Kembali: hari ke-5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1" i="0" dirty="0">
                <a:solidFill>
                  <a:srgbClr val="F87171"/>
                </a:solidFill>
                <a:latin typeface="Consolas"/>
                <a:cs typeface="Consolas"/>
              </a:rPr>
              <a:t>========== BUKTI RENTAL ==========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FFFFFF"/>
                </a:solidFill>
                <a:latin typeface="Consolas"/>
                <a:cs typeface="Consolas"/>
              </a:rPr>
              <a:t>ID / Nama    : 102 / Siti Aminah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FFFFFF"/>
                </a:solidFill>
                <a:latin typeface="Consolas"/>
                <a:cs typeface="Consolas"/>
              </a:rPr>
              <a:t>Film         : Inception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FFFFFF"/>
                </a:solidFill>
                <a:latin typeface="Consolas"/>
                <a:cs typeface="Consolas"/>
              </a:rPr>
              <a:t>Biaya/hari   : Rp6500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FFFFFF"/>
                </a:solidFill>
                <a:latin typeface="Consolas"/>
                <a:cs typeface="Consolas"/>
              </a:rPr>
              <a:t>Lama pinjam  : 2 hari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FCA5A5"/>
                </a:solidFill>
                <a:latin typeface="Consolas"/>
                <a:cs typeface="Consolas"/>
              </a:rPr>
              <a:t>Dikembalikan : hari ke-5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FFFFFF"/>
                </a:solidFill>
                <a:latin typeface="Consolas"/>
                <a:cs typeface="Consolas"/>
              </a:rPr>
              <a:t>Biaya sewa   : Rp13000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FCA5A5"/>
                </a:solidFill>
                <a:latin typeface="Consolas"/>
                <a:cs typeface="Consolas"/>
              </a:rPr>
              <a:t>Denda        : Rp6000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1" i="0" dirty="0">
                <a:solidFill>
                  <a:srgbClr val="FBBF24"/>
                </a:solidFill>
                <a:latin typeface="Consolas"/>
                <a:cs typeface="Consolas"/>
              </a:rPr>
              <a:t>Total bayar  : Rp19000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1" i="0" dirty="0">
                <a:solidFill>
                  <a:srgbClr val="F87171"/>
                </a:solidFill>
                <a:latin typeface="Consolas"/>
                <a:cs typeface="Consolas"/>
              </a:rPr>
              <a:t>Status       : Terlambat</a:t>
            </a:r>
          </a:p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F87171"/>
                </a:solidFill>
                <a:latin typeface="Consolas"/>
                <a:cs typeface="Consolas"/>
              </a:rPr>
              <a:t>==================================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2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3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Box4"/>
          <p:cNvSpPr txBox="1"/>
          <p:nvPr/>
        </p:nvSpPr>
        <p:spPr>
          <a:xfrm>
            <a:off x="502920" y="164592"/>
            <a:ext cx="2194560" cy="292608"/>
          </a:xfrm>
          <a:prstGeom prst="roundRect">
            <a:avLst>
              <a:gd name="adj" fmla="val 25000"/>
            </a:avLst>
          </a:prstGeom>
          <a:solidFill>
            <a:srgbClr val="38BDF8"/>
          </a:solidFill>
          <a:ln>
            <a:noFill/>
          </a:ln>
        </p:spPr>
        <p:txBody>
          <a:bodyPr wrap="square" lIns="30000" tIns="10000" rIns="30000" bIns="10000" anchor="ctr"/>
          <a:lstStyle/>
          <a:p>
            <a:pPr algn="ctr">
              <a:spcAft>
                <a:spcPts val="400"/>
              </a:spcAft>
              <a:buNone/>
            </a:pPr>
            <a:r>
              <a:rPr lang="id-ID" sz="1100" b="1" i="0" dirty="0">
                <a:solidFill>
                  <a:srgbClr val="0F172A"/>
                </a:solidFill>
                <a:latin typeface="Calibri"/>
                <a:cs typeface="Calibri"/>
              </a:rPr>
              <a:t>BAB VI</a:t>
            </a:r>
          </a:p>
        </p:txBody>
      </p:sp>
      <p:sp>
        <p:nvSpPr>
          <p:cNvPr id="5" name="TextBox5"/>
          <p:cNvSpPr txBox="1"/>
          <p:nvPr/>
        </p:nvSpPr>
        <p:spPr>
          <a:xfrm>
            <a:off x="502920" y="475488"/>
            <a:ext cx="96012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lang="id-ID" sz="2200" b="1" i="0" dirty="0">
                <a:solidFill>
                  <a:srgbClr val="FFFFFF"/>
                </a:solidFill>
                <a:latin typeface="Calibri"/>
                <a:cs typeface="Calibri"/>
              </a:rPr>
              <a:t>HASIL DAN PEMBAHASAN: STRUKTUR KONTROL &amp; SOLUSI</a:t>
            </a:r>
          </a:p>
        </p:txBody>
      </p:sp>
      <p:sp>
        <p:nvSpPr>
          <p:cNvPr id="6" name="TextBox6"/>
          <p:cNvSpPr txBox="1"/>
          <p:nvPr/>
        </p:nvSpPr>
        <p:spPr>
          <a:xfrm>
            <a:off x="7498079" y="164592"/>
            <a:ext cx="41605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94A3B8"/>
                </a:solidFill>
                <a:latin typeface="Calibri"/>
                <a:cs typeface="Calibri"/>
              </a:rPr>
              <a:t>6.1 Hasil Program, 6.2 Penerapan Struktur Kontrol, &amp; 6.3 Kendala dan Solusi</a:t>
            </a:r>
          </a:p>
        </p:txBody>
      </p:sp>
      <p:sp>
        <p:nvSpPr>
          <p:cNvPr id="7" name="Rect7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Box8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475569"/>
                </a:solidFill>
                <a:latin typeface="Calibri"/>
                <a:cs typeface="Calibri"/>
              </a:rPr>
              <a:t>Kelompok 3 — Sistem Rental Film (Bahasa C) | Mini Project Pemrograman Dasar</a:t>
            </a:r>
          </a:p>
        </p:txBody>
      </p:sp>
      <p:sp>
        <p:nvSpPr>
          <p:cNvPr id="9" name="TextBox9"/>
          <p:cNvSpPr txBox="1"/>
          <p:nvPr/>
        </p:nvSpPr>
        <p:spPr>
          <a:xfrm>
            <a:off x="10058400" y="6556248"/>
            <a:ext cx="1600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lang="id-ID" sz="1000" b="1" i="0" dirty="0">
                <a:solidFill>
                  <a:srgbClr val="0F172A"/>
                </a:solidFill>
                <a:latin typeface="Calibri"/>
                <a:cs typeface="Calibri"/>
              </a:rPr>
              <a:t>Slide 12 / 13</a:t>
            </a:r>
          </a:p>
        </p:txBody>
      </p:sp>
      <p:sp>
        <p:nvSpPr>
          <p:cNvPr id="10" name="Rect10"/>
          <p:cNvSpPr/>
          <p:nvPr/>
        </p:nvSpPr>
        <p:spPr>
          <a:xfrm>
            <a:off x="502920" y="1325880"/>
            <a:ext cx="5394960" cy="4937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11"/>
          <p:cNvSpPr/>
          <p:nvPr/>
        </p:nvSpPr>
        <p:spPr>
          <a:xfrm>
            <a:off x="502920" y="1325880"/>
            <a:ext cx="5394960" cy="384048"/>
          </a:xfrm>
          <a:prstGeom prst="roundRect">
            <a:avLst>
              <a:gd name="adj" fmla="val 4000"/>
            </a:avLst>
          </a:prstGeom>
          <a:solidFill>
            <a:srgbClr val="0284C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Box12"/>
          <p:cNvSpPr txBox="1"/>
          <p:nvPr/>
        </p:nvSpPr>
        <p:spPr>
          <a:xfrm>
            <a:off x="667512" y="1371600"/>
            <a:ext cx="5065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6.1 Hasil &amp; 6.2 Penerapan Struktur Kontrol</a:t>
            </a:r>
          </a:p>
        </p:txBody>
      </p:sp>
      <p:sp>
        <p:nvSpPr>
          <p:cNvPr id="13" name="TextBox13"/>
          <p:cNvSpPr txBox="1"/>
          <p:nvPr/>
        </p:nvSpPr>
        <p:spPr>
          <a:xfrm>
            <a:off x="640080" y="1764792"/>
            <a:ext cx="5120640" cy="443484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Hasil Program: Program berhasil memvalidasi pilihan film, menghitung perpanjangan sewa, menghitung denda keterlambatan, dan menampilkan bukti rental.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if : Mengecek apakah pengguna memilih perpanjangan sewa (jawab == 'y' || jawab == 'Y').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if-else : Mengecek stok film (STOK1..5) serta menentukan denda dan status ('Terlambat' vs 'Tepat waktu').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switch-case : Memilih film ke-1 s/d ke-5 berdasarkan input pengguna.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do-while : Mengulang input pilihan film selama nomor tidak valid atau film sedang dipinjam (!valid).</a:t>
            </a:r>
          </a:p>
        </p:txBody>
      </p:sp>
      <p:sp>
        <p:nvSpPr>
          <p:cNvPr id="14" name="Rect14"/>
          <p:cNvSpPr/>
          <p:nvPr/>
        </p:nvSpPr>
        <p:spPr>
          <a:xfrm>
            <a:off x="6172200" y="1325880"/>
            <a:ext cx="5394960" cy="4937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15"/>
          <p:cNvSpPr/>
          <p:nvPr/>
        </p:nvSpPr>
        <p:spPr>
          <a:xfrm>
            <a:off x="6172200" y="1325880"/>
            <a:ext cx="5394960" cy="384048"/>
          </a:xfrm>
          <a:prstGeom prst="roundRect">
            <a:avLst>
              <a:gd name="adj" fmla="val 4000"/>
            </a:avLst>
          </a:prstGeom>
          <a:solidFill>
            <a:srgbClr val="7C3AE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Box16"/>
          <p:cNvSpPr txBox="1"/>
          <p:nvPr/>
        </p:nvSpPr>
        <p:spPr>
          <a:xfrm>
            <a:off x="6336792" y="1371600"/>
            <a:ext cx="5065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6.3 Kendala dan Solusi Selama Pengerjaan</a:t>
            </a:r>
          </a:p>
        </p:txBody>
      </p:sp>
      <p:sp>
        <p:nvSpPr>
          <p:cNvPr id="17" name="TextBox17"/>
          <p:cNvSpPr txBox="1"/>
          <p:nvPr/>
        </p:nvSpPr>
        <p:spPr>
          <a:xfrm>
            <a:off x="6309360" y="1764792"/>
            <a:ext cx="5120640" cy="443484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Kendala 1: Pengguna memilih nomor film di luar 1-5 atau film yang sedang dipinjam (STOK = 0).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Solusi 1 : Menggunakan perulangan do-while dengan variabel penanda valid dan percabangan switch-case.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Kendala 2: Menyimpan data 5 film tanpa menggunakan array maupun struct.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Solusi 2 : Mendefinisikan konstanta makro #define JUDUL1..5, HARGA1..5, dan STOK1..5 di bagian atas program.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Kendala 3: Membaca nama pelanggan yang mengandung spasi menggunakan scanf.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Solusi 3 : Menggunakan format spesifikasi scanf(" %[^\n]", nama) agar spasi ikut terbaca.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2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3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Box4"/>
          <p:cNvSpPr txBox="1"/>
          <p:nvPr/>
        </p:nvSpPr>
        <p:spPr>
          <a:xfrm>
            <a:off x="502920" y="164592"/>
            <a:ext cx="2194560" cy="292608"/>
          </a:xfrm>
          <a:prstGeom prst="roundRect">
            <a:avLst>
              <a:gd name="adj" fmla="val 25000"/>
            </a:avLst>
          </a:prstGeom>
          <a:solidFill>
            <a:srgbClr val="38BDF8"/>
          </a:solidFill>
          <a:ln>
            <a:noFill/>
          </a:ln>
        </p:spPr>
        <p:txBody>
          <a:bodyPr wrap="square" lIns="30000" tIns="10000" rIns="30000" bIns="10000" anchor="ctr"/>
          <a:lstStyle/>
          <a:p>
            <a:pPr algn="ctr">
              <a:spcAft>
                <a:spcPts val="400"/>
              </a:spcAft>
              <a:buNone/>
            </a:pPr>
            <a:r>
              <a:rPr lang="id-ID" sz="1100" b="1" i="0" dirty="0">
                <a:solidFill>
                  <a:srgbClr val="0F172A"/>
                </a:solidFill>
                <a:latin typeface="Calibri"/>
                <a:cs typeface="Calibri"/>
              </a:rPr>
              <a:t>BAB VII</a:t>
            </a:r>
          </a:p>
        </p:txBody>
      </p:sp>
      <p:sp>
        <p:nvSpPr>
          <p:cNvPr id="5" name="TextBox5"/>
          <p:cNvSpPr txBox="1"/>
          <p:nvPr/>
        </p:nvSpPr>
        <p:spPr>
          <a:xfrm>
            <a:off x="502920" y="475488"/>
            <a:ext cx="96012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lang="id-ID" sz="2200" b="1" i="0" dirty="0">
                <a:solidFill>
                  <a:srgbClr val="FFFFFF"/>
                </a:solidFill>
                <a:latin typeface="Calibri"/>
                <a:cs typeface="Calibri"/>
              </a:rPr>
              <a:t>KESIMPULAN, SARAN PENGEMBANGAN &amp; REFERENSI</a:t>
            </a:r>
          </a:p>
        </p:txBody>
      </p:sp>
      <p:sp>
        <p:nvSpPr>
          <p:cNvPr id="6" name="TextBox6"/>
          <p:cNvSpPr txBox="1"/>
          <p:nvPr/>
        </p:nvSpPr>
        <p:spPr>
          <a:xfrm>
            <a:off x="7498079" y="164592"/>
            <a:ext cx="41605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lang="id-ID" sz="1100" b="0" i="0" dirty="0">
                <a:solidFill>
                  <a:srgbClr val="94A3B8"/>
                </a:solidFill>
                <a:latin typeface="Calibri"/>
                <a:cs typeface="Calibri"/>
              </a:rPr>
              <a:t>7.1 Kesimpulan, 7.2 Saran Pengembangan, &amp; Daftar Pustaka</a:t>
            </a:r>
          </a:p>
        </p:txBody>
      </p:sp>
      <p:sp>
        <p:nvSpPr>
          <p:cNvPr id="7" name="Rect7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Box8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lang="id-ID" sz="1000" b="0" i="0" dirty="0">
                <a:solidFill>
                  <a:srgbClr val="475569"/>
                </a:solidFill>
                <a:latin typeface="Calibri"/>
                <a:cs typeface="Calibri"/>
              </a:rPr>
              <a:t>Kelompok 3 — Sistem Rental Film (Bahasa C) | Mini Project Pemrograman Dasar</a:t>
            </a:r>
          </a:p>
        </p:txBody>
      </p:sp>
      <p:sp>
        <p:nvSpPr>
          <p:cNvPr id="9" name="TextBox9"/>
          <p:cNvSpPr txBox="1"/>
          <p:nvPr/>
        </p:nvSpPr>
        <p:spPr>
          <a:xfrm>
            <a:off x="10058400" y="6556248"/>
            <a:ext cx="1600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lang="id-ID" sz="1000" b="1" i="0" dirty="0">
                <a:solidFill>
                  <a:srgbClr val="0F172A"/>
                </a:solidFill>
                <a:latin typeface="Calibri"/>
                <a:cs typeface="Calibri"/>
              </a:rPr>
              <a:t>Slide 13 / 13</a:t>
            </a:r>
          </a:p>
        </p:txBody>
      </p:sp>
      <p:sp>
        <p:nvSpPr>
          <p:cNvPr id="10" name="Rect10"/>
          <p:cNvSpPr/>
          <p:nvPr/>
        </p:nvSpPr>
        <p:spPr>
          <a:xfrm>
            <a:off x="502920" y="1325880"/>
            <a:ext cx="539496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11"/>
          <p:cNvSpPr/>
          <p:nvPr/>
        </p:nvSpPr>
        <p:spPr>
          <a:xfrm>
            <a:off x="502920" y="1325880"/>
            <a:ext cx="5394960" cy="384048"/>
          </a:xfrm>
          <a:prstGeom prst="roundRect">
            <a:avLst>
              <a:gd name="adj" fmla="val 4000"/>
            </a:avLst>
          </a:prstGeom>
          <a:solidFill>
            <a:srgbClr val="05966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Box12"/>
          <p:cNvSpPr txBox="1"/>
          <p:nvPr/>
        </p:nvSpPr>
        <p:spPr>
          <a:xfrm>
            <a:off x="667512" y="1371600"/>
            <a:ext cx="5065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7.1 Kesimpulan</a:t>
            </a:r>
          </a:p>
        </p:txBody>
      </p:sp>
      <p:sp>
        <p:nvSpPr>
          <p:cNvPr id="13" name="TextBox13"/>
          <p:cNvSpPr txBox="1"/>
          <p:nvPr/>
        </p:nvSpPr>
        <p:spPr>
          <a:xfrm>
            <a:off x="640080" y="1764792"/>
            <a:ext cx="5120640" cy="2514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Seluruh tujuan mini project telah tercapai.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Program Sistem Rental Film berhasil dibangun menggunakan bahasa C dengan menerapkan do-while, switch-case, if, dan if-else tanpa menggunakan array data, struct, maupun pointer.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Program berhasil memvalidasi pilihan film, menghitung biaya sewa dan denda keterlambatan, serta menampilkan bukti rental dengan tepat.</a:t>
            </a:r>
          </a:p>
        </p:txBody>
      </p:sp>
      <p:sp>
        <p:nvSpPr>
          <p:cNvPr id="14" name="Rect14"/>
          <p:cNvSpPr/>
          <p:nvPr/>
        </p:nvSpPr>
        <p:spPr>
          <a:xfrm>
            <a:off x="6172200" y="1325880"/>
            <a:ext cx="539496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15"/>
          <p:cNvSpPr/>
          <p:nvPr/>
        </p:nvSpPr>
        <p:spPr>
          <a:xfrm>
            <a:off x="6172200" y="1325880"/>
            <a:ext cx="5394960" cy="384048"/>
          </a:xfrm>
          <a:prstGeom prst="roundRect">
            <a:avLst>
              <a:gd name="adj" fmla="val 4000"/>
            </a:avLst>
          </a:prstGeom>
          <a:solidFill>
            <a:srgbClr val="0284C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Box16"/>
          <p:cNvSpPr txBox="1"/>
          <p:nvPr/>
        </p:nvSpPr>
        <p:spPr>
          <a:xfrm>
            <a:off x="6336792" y="1371600"/>
            <a:ext cx="5065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7.2 Saran Pengembangan (Tahap Berikutnya)</a:t>
            </a:r>
          </a:p>
        </p:txBody>
      </p:sp>
      <p:sp>
        <p:nvSpPr>
          <p:cNvPr id="17" name="TextBox17"/>
          <p:cNvSpPr txBox="1"/>
          <p:nvPr/>
        </p:nvSpPr>
        <p:spPr>
          <a:xfrm>
            <a:off x="6309360" y="1764792"/>
            <a:ext cx="5120640" cy="2514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Pada tahap selanjutnya, program dapat dikembangkan untuk menyimpan banyak data film dan pelanggan menggunakan ARRAY.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Data pelanggan, film, dan transaksi dapat dikelompokkan menggunakan STRUCT.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Manipulasi dan pengelolaan data selanjutnya dapat dioptimalkan menggunakan POINTER.</a:t>
            </a:r>
          </a:p>
        </p:txBody>
      </p:sp>
      <p:sp>
        <p:nvSpPr>
          <p:cNvPr id="18" name="Rect18"/>
          <p:cNvSpPr/>
          <p:nvPr/>
        </p:nvSpPr>
        <p:spPr>
          <a:xfrm>
            <a:off x="502920" y="4526280"/>
            <a:ext cx="1106424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19"/>
          <p:cNvSpPr/>
          <p:nvPr/>
        </p:nvSpPr>
        <p:spPr>
          <a:xfrm>
            <a:off x="502920" y="4526280"/>
            <a:ext cx="11064240" cy="384048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Box20"/>
          <p:cNvSpPr txBox="1"/>
          <p:nvPr/>
        </p:nvSpPr>
        <p:spPr>
          <a:xfrm>
            <a:off x="667512" y="4572000"/>
            <a:ext cx="1073505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lang="id-ID" sz="1300" b="1" i="0" dirty="0">
                <a:solidFill>
                  <a:srgbClr val="FFFFFF"/>
                </a:solidFill>
                <a:latin typeface="Calibri"/>
                <a:cs typeface="Calibri"/>
              </a:rPr>
              <a:t>Daftar Pustaka</a:t>
            </a:r>
          </a:p>
        </p:txBody>
      </p:sp>
      <p:sp>
        <p:nvSpPr>
          <p:cNvPr id="21" name="TextBox21"/>
          <p:cNvSpPr txBox="1"/>
          <p:nvPr/>
        </p:nvSpPr>
        <p:spPr>
          <a:xfrm>
            <a:off x="640080" y="4965192"/>
            <a:ext cx="10789920" cy="1234440"/>
          </a:xfrm>
          <a:prstGeom prst="rect">
            <a:avLst/>
          </a:prstGeom>
          <a:noFill/>
          <a:ln>
            <a:noFill/>
          </a:ln>
        </p:spPr>
        <p:txBody>
          <a:bodyPr wrap="square" lIns="91440" tIns="68580" rIns="91440" bIns="68580" anchor="t"/>
          <a:lstStyle/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1. Kernighan, B. W., &amp; Ritchie, D. M. (1988). The C Programming Language (2nd ed.). Prentice Hall.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2. Modul Praktikum &amp; Materi Kuliah Pemrograman Dasar Tahun 2026.</a:t>
            </a:r>
          </a:p>
          <a:p>
            <a:pPr marL="228600" indent="-228600" algn="l">
              <a:spcAft>
                <a:spcPts val="500"/>
              </a:spcAft>
              <a:buChar char="•"/>
            </a:pPr>
            <a:r>
              <a:rPr lang="id-ID" sz="1200" b="0" i="0" dirty="0">
                <a:solidFill>
                  <a:srgbClr val="1E293B"/>
                </a:solidFill>
                <a:latin typeface="Calibri"/>
                <a:cs typeface="Calibri"/>
              </a:rPr>
              <a:t>3. Dokumentasi C Standard Library (&lt;stdio.h&gt; &amp; &lt;string.h&gt;) — https://en.cppreference.com/w/c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F172A"/>
      </a:dk1>
      <a:lt1>
        <a:srgbClr val="FFFFFF"/>
      </a:lt1>
      <a:dk2>
        <a:srgbClr val="1E293B"/>
      </a:dk2>
      <a:lt2>
        <a:srgbClr val="F8FAFC"/>
      </a:lt2>
      <a:accent1>
        <a:srgbClr val="0284C7"/>
      </a:accent1>
      <a:accent2>
        <a:srgbClr val="059669"/>
      </a:accent2>
      <a:accent3>
        <a:srgbClr val="7C3AED"/>
      </a:accent3>
      <a:accent4>
        <a:srgbClr val="D97706"/>
      </a:accent4>
      <a:accent5>
        <a:srgbClr val="DC2626"/>
      </a:accent5>
      <a:accent6>
        <a:srgbClr val="38BDF8"/>
      </a:accent6>
      <a:hlink>
        <a:srgbClr val="0284C7"/>
      </a:hlink>
      <a:folHlink>
        <a:srgbClr val="7C3AED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2998</Words>
  <Application>Microsoft Office PowerPoint</Application>
  <PresentationFormat>Widescreen</PresentationFormat>
  <Paragraphs>311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Bayu Arga</dc:creator>
  <cp:lastModifiedBy>Bayu Arga</cp:lastModifiedBy>
  <cp:revision>3</cp:revision>
  <dcterms:modified xsi:type="dcterms:W3CDTF">2026-10-11T15:32:02Z</dcterms:modified>
</cp:coreProperties>
</file>