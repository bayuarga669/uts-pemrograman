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custom"/>
  <p:notesSz cx="6858000" cy="12192000"/>
</p:presentation>
</file>

<file path=ppt/presProps.xml><?xml version="1.0" encoding="utf-8"?>
<p:presProps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heme" Target="theme/theme1.xml"/>
  <Relationship Id="rId18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914400" y="685800"/>
            <a:ext cx="4114800" cy="384048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200" b="1" i="0" dirty="0">
                <a:solidFill>
                  <a:srgbClr val="0F172A"/>
                </a:solidFill>
                <a:latin typeface="Calibri"/>
                <a:cs typeface="Calibri"/>
              </a:rPr>
              <a:t>LAPORAN MINI PROJECT PEMROGRAMAN DASAR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914400" y="1234440"/>
            <a:ext cx="10241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  <a:buNone/>
            </a:pPr>
            <a:r>
              <a:rPr lang="id-ID" sz="4000" b="1" i="0" dirty="0">
                <a:solidFill>
                  <a:srgbClr val="FFFFFF"/>
                </a:solidFill>
                <a:latin typeface="Calibri"/>
                <a:cs typeface="Calibri"/>
              </a:rPr>
              <a:t>SISTEM RENTAL FILM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600" b="0" i="0" dirty="0">
                <a:solidFill>
                  <a:srgbClr val="94A3B8"/>
                </a:solidFill>
                <a:latin typeface="Calibri"/>
                <a:cs typeface="Calibri"/>
              </a:rPr>
              <a:t>Implementasi Bahasa C Menggunakan Struktur Kontrol Dasar (Tanpa Array, Struct, &amp; Pointer)</a:t>
            </a:r>
          </a:p>
        </p:txBody>
      </p:sp>
      <p:sp>
        <p:nvSpPr>
          <p:cNvPr id="6" name="Rect6"/>
          <p:cNvSpPr/>
          <p:nvPr/>
        </p:nvSpPr>
        <p:spPr>
          <a:xfrm>
            <a:off x="914400" y="2651760"/>
            <a:ext cx="621792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7" name="TextBox7"/>
          <p:cNvSpPr txBox="1"/>
          <p:nvPr/>
        </p:nvSpPr>
        <p:spPr>
          <a:xfrm>
            <a:off x="1143000" y="2834640"/>
            <a:ext cx="576072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0"/>
              </a:spcAft>
              <a:buNone/>
            </a:pPr>
            <a:r>
              <a:rPr lang="id-ID" sz="1500" b="1" i="0" dirty="0">
                <a:solidFill>
                  <a:srgbClr val="38BDF8"/>
                </a:solidFill>
                <a:latin typeface="Calibri"/>
                <a:cs typeface="Calibri"/>
              </a:rPr>
              <a:t>KELOMPOK 3 — PEMBAGIAN ANGGOTA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1. Mahasiswa 1 (NRP: ....................) — Data Pelanggan &amp; Film</a:t>
            </a:r>
          </a:p>
          <a:p>
            <a:pPr algn="l">
              <a:spcAft>
                <a:spcPts val="800"/>
              </a:spcAft>
              <a:buNone/>
            </a:pPr>
            <a:r>
              <a:rPr lang="id-ID" sz="1100" b="0" i="0" dirty="0">
                <a:solidFill>
                  <a:srgbClr val="CBD5E1"/>
                </a:solidFill>
                <a:latin typeface="Calibri"/>
                <a:cs typeface="Calibri"/>
              </a:rPr>
              <a:t>    Input ID &amp; nama pelanggan, daftar film, validasi pilihan film (do-while)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2. Mahasiswa 2 (NRP: ....................) — Proses Sewa &amp; Denda</a:t>
            </a:r>
          </a:p>
          <a:p>
            <a:pPr algn="l">
              <a:spcAft>
                <a:spcPts val="800"/>
              </a:spcAft>
              <a:buNone/>
            </a:pPr>
            <a:r>
              <a:rPr lang="id-ID" sz="1100" b="0" i="0" dirty="0">
                <a:solidFill>
                  <a:srgbClr val="CBD5E1"/>
                </a:solidFill>
                <a:latin typeface="Calibri"/>
                <a:cs typeface="Calibri"/>
              </a:rPr>
              <a:t>    Biaya sewa, lama pinjam, denda keterlambatan &amp; status (if-else &amp; for)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3. Mahasiswa 3 (NRP: ....................) — Transaksi &amp; Pengujian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CBD5E1"/>
                </a:solidFill>
                <a:latin typeface="Calibri"/>
                <a:cs typeface="Calibri"/>
              </a:rPr>
              <a:t>    Bukti rental, status film, uji tepat waktu &amp; terlambat, integrasi program</a:t>
            </a:r>
          </a:p>
        </p:txBody>
      </p:sp>
      <p:sp>
        <p:nvSpPr>
          <p:cNvPr id="8" name="Rect8"/>
          <p:cNvSpPr/>
          <p:nvPr/>
        </p:nvSpPr>
        <p:spPr>
          <a:xfrm>
            <a:off x="7406640" y="2651760"/>
            <a:ext cx="41148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</p:sp>
      <p:sp>
        <p:nvSpPr>
          <p:cNvPr id="9" name="TextBox9"/>
          <p:cNvSpPr txBox="1"/>
          <p:nvPr/>
        </p:nvSpPr>
        <p:spPr>
          <a:xfrm>
            <a:off x="7635240" y="2834640"/>
            <a:ext cx="365760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200"/>
              </a:spcAft>
              <a:buNone/>
            </a:pPr>
            <a:r>
              <a:rPr lang="id-ID" sz="1500" b="1" i="0" dirty="0">
                <a:solidFill>
                  <a:srgbClr val="38BDF8"/>
                </a:solidFill>
                <a:latin typeface="Calibri"/>
                <a:cs typeface="Calibri"/>
              </a:rPr>
              <a:t>INFORMASI AKADEMIK</a:t>
            </a:r>
          </a:p>
          <a:p>
            <a:pPr algn="l">
              <a:spcAft>
                <a:spcPts val="1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Mata Kuliah :</a:t>
            </a:r>
          </a:p>
          <a:p>
            <a:pPr algn="l">
              <a:spcAft>
                <a:spcPts val="800"/>
              </a:spcAft>
              <a:buNone/>
            </a:pPr>
            <a:r>
              <a:rPr lang="id-ID" sz="1400" b="1" i="0" dirty="0">
                <a:solidFill>
                  <a:srgbClr val="FFFFFF"/>
                </a:solidFill>
                <a:latin typeface="Calibri"/>
                <a:cs typeface="Calibri"/>
              </a:rPr>
              <a:t>Pemrograman Dasar</a:t>
            </a:r>
          </a:p>
          <a:p>
            <a:pPr algn="l">
              <a:spcAft>
                <a:spcPts val="1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Dosen Pengampu :</a:t>
            </a:r>
          </a:p>
          <a:p>
            <a:pPr algn="l">
              <a:spcAft>
                <a:spcPts val="800"/>
              </a:spcAft>
              <a:buNone/>
            </a:pPr>
            <a:r>
              <a:rPr lang="id-ID" sz="1300" b="0" i="0" dirty="0">
                <a:solidFill>
                  <a:srgbClr val="FFFFFF"/>
                </a:solidFill>
                <a:latin typeface="Calibri"/>
                <a:cs typeface="Calibri"/>
              </a:rPr>
              <a:t>................................................</a:t>
            </a:r>
          </a:p>
          <a:p>
            <a:pPr algn="l">
              <a:spcAft>
                <a:spcPts val="1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Program Studi / Institusi :</a:t>
            </a:r>
          </a:p>
          <a:p>
            <a:pPr algn="l">
              <a:spcAft>
                <a:spcPts val="800"/>
              </a:spcAft>
              <a:buNone/>
            </a:pPr>
            <a:r>
              <a:rPr lang="id-ID" sz="1300" b="0" i="0" dirty="0">
                <a:solidFill>
                  <a:srgbClr val="FFFFFF"/>
                </a:solidFill>
                <a:latin typeface="Calibri"/>
                <a:cs typeface="Calibri"/>
              </a:rPr>
              <a:t>................................................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38BDF8"/>
                </a:solidFill>
                <a:latin typeface="Calibri"/>
                <a:cs typeface="Calibri"/>
              </a:rPr>
              <a:t>Tahun Akademik 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PENDAHULUAN: LATAR BELAKANG &amp; RUMUSAN MASALAH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1.1 Latar Belakang &amp; 1.2 Rumusan Masalah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2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325880"/>
            <a:ext cx="53949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1.1 Latar Belakang Permasalahan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64792"/>
            <a:ext cx="51206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Proses penyewaan (rental) film secara manual membutuhkan pencatatan identitas pelanggan, pengecekan ketersediaan judul film, serta perhitungan biaya dan denda yang rentan mengalami kesalahan hitung.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Sering terjadi kekeliruan saat menentukan apakah pengembalian film berstatus TEPAT WAKTU atau TERLAMBAT beserta akumulasi denda hariannya.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Oleh karena itu, dibangun program Sistem Rental Film berbasis bahasa C yang terstruktur untuk mengotomatisasi proses pencatatan, validasi input, perhitungan biaya sewa dan denda, hingga pencetakan bukti transaksi.</a:t>
            </a:r>
          </a:p>
        </p:txBody>
      </p:sp>
      <p:sp>
        <p:nvSpPr>
          <p:cNvPr id="14" name="Rect14"/>
          <p:cNvSpPr/>
          <p:nvPr/>
        </p:nvSpPr>
        <p:spPr>
          <a:xfrm>
            <a:off x="6172200" y="1325880"/>
            <a:ext cx="53949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617220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33679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1.2 Rumusan Masalah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309360" y="1764792"/>
            <a:ext cx="51206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1. Bagaimana merancang dan membangun program Sistem Rental Film menggunakan bahasa C?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2. Bagaimana melakukan input data pelanggan serta validasi pilihan film menggunakan perulangan do-while?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3. Bagaimana menentukan biaya sewa, menghitung lama peminjaman, menghitung denda keterlambatan, dan menentukan status pengembalian menggunakan if-else dan perulangan?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4. Bagaimana menampilkan bukti rental, memperbarui status film, serta menguji skenario peminjaman tepat waktu dan terlambat?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PENDAHULUAN: TUJUAN &amp; BATASAN MASALAH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1.3 Tujuan &amp; 1.4 Batasan Masalah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3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325880"/>
            <a:ext cx="53949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1.3 Tujuan Pembuatan Program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64792"/>
            <a:ext cx="51206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1. Membuat program Sistem Rental Film yang fungsional menggunakan bahasa pemrograman C.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2. Menerapkan struktur percabangan if dan if-else untuk penentuan tarif film, status pengembalian, dan denda.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3. Menerapkan struktur perulangan while, do-while, dan for sesuai fungsinya masing-masing.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4. Menerapkan validasi input agar program tahan terhadap masukan yang tidak valid.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5. Mengembangkan kemampuan pembagian tugas dan integrasi kode dalam kerja kelompok.</a:t>
            </a:r>
          </a:p>
        </p:txBody>
      </p:sp>
      <p:sp>
        <p:nvSpPr>
          <p:cNvPr id="14" name="Rect14"/>
          <p:cNvSpPr/>
          <p:nvPr/>
        </p:nvSpPr>
        <p:spPr>
          <a:xfrm>
            <a:off x="6172200" y="1325880"/>
            <a:ext cx="53949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617220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33679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1.4 Batasan Masalah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309360" y="1764792"/>
            <a:ext cx="51206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Program dibuat menggunakan bahasa pemrograman C (Standard Library stdio.h).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Program TIDAK menggunakan array data untuk menyimpan daftar film maupun transaksi.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Program TIDAK menggunakan struct ataupun konsep Object-Oriented Programming (OOP).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Program TIDAK menggunakan pointer (*).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Struktur kontrol yang digunakan dibatasi pada: if, if-else, while, do-while, dan for.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Data ketersediaan film dan transaksi hanya disimpan selama program berjalan (in-memory).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ANALISIS &amp; PERANCANGAN: DESKRIPSI SISTEM &amp; IPO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2.1 Deskripsi Sistem &amp; 2.2 Input - Proses - Output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4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298448"/>
            <a:ext cx="110642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298448"/>
            <a:ext cx="1106424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44168"/>
            <a:ext cx="107350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2.1 Deskripsi Singkat Sistem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373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Program dimulai dengan menampilkan menu utama, lalu menerima input ID dan Nama Pelanggan. Selanjutnya program menampilkan 5 pilihan film beserta harga sewa per hari dan statusnya (Tersedia/Dipinjam), lalu memvalidasi pilihan pelanggan menggunakan do-while. Pelanggan memasukkan durasi sewa (1-7 hari) dan lama peminjaman aktual. Program menghitung biaya sewa, menentukan status pengembalian (TEPAT WAKTU / TERLAMBAT) dengan if-else, menghitung denda keterlambatan bertingkat dengan perulangan for, memvalidasi uang pembayaran, dan mencetak Bukti Rental Film.</a:t>
            </a:r>
          </a:p>
        </p:txBody>
      </p:sp>
      <p:sp>
        <p:nvSpPr>
          <p:cNvPr id="14" name="Rect14"/>
          <p:cNvSpPr/>
          <p:nvPr/>
        </p:nvSpPr>
        <p:spPr>
          <a:xfrm>
            <a:off x="502920" y="2971800"/>
            <a:ext cx="352044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502920" y="2971800"/>
            <a:ext cx="352044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67512" y="3017520"/>
            <a:ext cx="31912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INPUT (Masukan)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40080" y="3410712"/>
            <a:ext cx="3246120" cy="2834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ID Pelanggan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Nama Pelanggan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Pilihan Nomor Film (1-5)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Durasi Sewa (1-7 hari)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Lama Peminjaman Aktual (hari)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Jumlah Uang Pembayaran (Rp)</a:t>
            </a:r>
          </a:p>
        </p:txBody>
      </p:sp>
      <p:sp>
        <p:nvSpPr>
          <p:cNvPr id="18" name="Rect18"/>
          <p:cNvSpPr/>
          <p:nvPr/>
        </p:nvSpPr>
        <p:spPr>
          <a:xfrm>
            <a:off x="4279392" y="2971800"/>
            <a:ext cx="352044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9" name="Rect19"/>
          <p:cNvSpPr/>
          <p:nvPr/>
        </p:nvSpPr>
        <p:spPr>
          <a:xfrm>
            <a:off x="4279392" y="2971800"/>
            <a:ext cx="3520440" cy="384048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0" name="TextBox20"/>
          <p:cNvSpPr txBox="1"/>
          <p:nvPr/>
        </p:nvSpPr>
        <p:spPr>
          <a:xfrm>
            <a:off x="4443984" y="3017520"/>
            <a:ext cx="31912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PROSES (Pengolahan)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4416552" y="3410712"/>
            <a:ext cx="3246120" cy="2834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Validasi pilihan film &amp; ketersediaan (do-while)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Menentukan harga sewa film (if-else)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Menghitung biaya sewa = harga x durasi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Menentukan status kembali &amp; hari telat (if-else)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Menghitung denda bertingkat per hari (for)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Menghitung total bayar &amp; kembalian</a:t>
            </a:r>
          </a:p>
        </p:txBody>
      </p:sp>
      <p:sp>
        <p:nvSpPr>
          <p:cNvPr id="22" name="Rect22"/>
          <p:cNvSpPr/>
          <p:nvPr/>
        </p:nvSpPr>
        <p:spPr>
          <a:xfrm>
            <a:off x="8046720" y="2971800"/>
            <a:ext cx="352044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3" name="Rect23"/>
          <p:cNvSpPr/>
          <p:nvPr/>
        </p:nvSpPr>
        <p:spPr>
          <a:xfrm>
            <a:off x="8046720" y="2971800"/>
            <a:ext cx="3520440" cy="38404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24" name="TextBox24"/>
          <p:cNvSpPr txBox="1"/>
          <p:nvPr/>
        </p:nvSpPr>
        <p:spPr>
          <a:xfrm>
            <a:off x="8211312" y="3017520"/>
            <a:ext cx="31912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OUTPUT (Keluaran)</a:t>
            </a:r>
          </a:p>
        </p:txBody>
      </p:sp>
      <p:sp>
        <p:nvSpPr>
          <p:cNvPr id="25" name="TextBox25"/>
          <p:cNvSpPr txBox="1"/>
          <p:nvPr/>
        </p:nvSpPr>
        <p:spPr>
          <a:xfrm>
            <a:off x="8183880" y="3410712"/>
            <a:ext cx="3246120" cy="2834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Tabel Daftar &amp; Status Ketersediaan Film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Bukti Rental Film (ID, Nama, Judul Film)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Rincian Biaya Sewa &amp; Denda Keterlambatan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Total Pembayaran &amp; Uang Kembalian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Status Pengembalian (TEPAT WAKTU / TERLAMBAT)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Status Film Terbaru (Dipinjam / Tersedia)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ANALISIS &amp; PERANCANGAN: ALGORITMA / PSEUDOCODE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2.3 Algoritma Program Sistem Rental Film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5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298448"/>
            <a:ext cx="5394960" cy="4983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298448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44168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Algoritma Bagian 1: Input &amp; Validasi (Mahasiswa 1 &amp; 2)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3736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284C7"/>
                </a:solidFill>
                <a:latin typeface="Consolas"/>
                <a:cs typeface="Consolas"/>
              </a:rPr>
              <a:t>Mulai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Ulangi (do-while transaksi):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Input idPelanggan dan namaPelanggan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Tampilkan daftar 5 film beserta harga &amp; status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Ulangi (do-while validasi film):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Input pilihanFilm (1..5)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Jika pilihanFilm &lt; 1 atau &gt; 5 atau status == Dipinjam: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  Tampilkan pesan kesalahan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Selama pilihanFilm tidak valid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Input durasiSewa (validasi 1..7 hari dengan do-while)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Ubah status film terpilih menjadi Dipinjam (0)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Input lamaPinjam aktual (minimal 1 hari)</a:t>
            </a:r>
          </a:p>
        </p:txBody>
      </p:sp>
      <p:sp>
        <p:nvSpPr>
          <p:cNvPr id="14" name="Rect14"/>
          <p:cNvSpPr/>
          <p:nvPr/>
        </p:nvSpPr>
        <p:spPr>
          <a:xfrm>
            <a:off x="6172200" y="1298448"/>
            <a:ext cx="5394960" cy="4983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6172200" y="1298448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336792" y="1344168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Algoritma Bagian 2: Perhitungan &amp; Output (Mahasiswa 2 &amp; 3)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309360" y="173736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Tentukan hargaPerHari berdasarkan pilihanFilm (if-else)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biayaSewa = hargaPerHari * durasiSewa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Jika lamaPinjam &gt; durasiSewa Maka: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hariTerlambat = lamaPinjam - durasiSewa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status = TERLAMBAT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Untuk hariKe = 1 sampai hariTerlambat (for):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  Jika hariKe &lt;= 3: denda += 5000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    Selain itu      : denda += 10000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Selain itu: hariTerlambat = 0, denda = 0, status = TEPAT WAKTU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totalBayar = biayaSewa + denda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Input uangBayar (do-while uangBayar &gt;= totalBayar)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kembalian = uangBayar - totalBayar; Status Film = Tersedia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1E293B"/>
                </a:solidFill>
                <a:latin typeface="Consolas"/>
                <a:cs typeface="Consolas"/>
              </a:rPr>
              <a:t>    Tampilkan Bukti Rental &amp; Status Film; Tanya transaksi lagi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284C7"/>
                </a:solidFill>
                <a:latin typeface="Consolas"/>
                <a:cs typeface="Consolas"/>
              </a:rPr>
              <a:t>Selesai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ANALISIS &amp; PERANCANGAN: FLOWCHART PROGRAM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2.4 Alur Eksekusi: Mulai -&gt; Input -&gt; Validasi -&gt; Proses -&gt; Perhitungan -&gt; Output -&gt; Pengulangan -&gt; Selesai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6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50876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50876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554480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1. MULAI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947672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Tampilkan Menu Utama
(1. Transaksi, 2. Daftar Film,
3. Pengujian, 0. Keluar)</a:t>
            </a:r>
          </a:p>
        </p:txBody>
      </p:sp>
      <p:sp>
        <p:nvSpPr>
          <p:cNvPr id="14" name="TextBox14"/>
          <p:cNvSpPr txBox="1"/>
          <p:nvPr/>
        </p:nvSpPr>
        <p:spPr>
          <a:xfrm>
            <a:off x="3063240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lang="id-ID" sz="2000" b="1" i="0" dirty="0">
                <a:solidFill>
                  <a:srgbClr val="0284C7"/>
                </a:solidFill>
                <a:latin typeface="Calibri"/>
                <a:cs typeface="Calibri"/>
              </a:rPr>
              <a:t>➔</a:t>
            </a:r>
          </a:p>
        </p:txBody>
      </p:sp>
      <p:sp>
        <p:nvSpPr>
          <p:cNvPr id="15" name="Rect15"/>
          <p:cNvSpPr/>
          <p:nvPr/>
        </p:nvSpPr>
        <p:spPr>
          <a:xfrm>
            <a:off x="3337560" y="150876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6" name="Rect16"/>
          <p:cNvSpPr/>
          <p:nvPr/>
        </p:nvSpPr>
        <p:spPr>
          <a:xfrm>
            <a:off x="3337560" y="150876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7" name="TextBox17"/>
          <p:cNvSpPr txBox="1"/>
          <p:nvPr/>
        </p:nvSpPr>
        <p:spPr>
          <a:xfrm>
            <a:off x="3502152" y="1554480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2. INPUT DATA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3474720" y="1947672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Masukkan ID Pelanggan &amp;
Nama Pelanggan;
Tampilkan 5 Pilihan Film</a:t>
            </a:r>
          </a:p>
        </p:txBody>
      </p:sp>
      <p:sp>
        <p:nvSpPr>
          <p:cNvPr id="19" name="TextBox19"/>
          <p:cNvSpPr txBox="1"/>
          <p:nvPr/>
        </p:nvSpPr>
        <p:spPr>
          <a:xfrm>
            <a:off x="5897880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lang="id-ID" sz="2000" b="1" i="0" dirty="0">
                <a:solidFill>
                  <a:srgbClr val="0284C7"/>
                </a:solidFill>
                <a:latin typeface="Calibri"/>
                <a:cs typeface="Calibri"/>
              </a:rPr>
              <a:t>➔</a:t>
            </a:r>
          </a:p>
        </p:txBody>
      </p:sp>
      <p:sp>
        <p:nvSpPr>
          <p:cNvPr id="20" name="Rect20"/>
          <p:cNvSpPr/>
          <p:nvPr/>
        </p:nvSpPr>
        <p:spPr>
          <a:xfrm>
            <a:off x="6172200" y="150876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1" name="Rect21"/>
          <p:cNvSpPr/>
          <p:nvPr/>
        </p:nvSpPr>
        <p:spPr>
          <a:xfrm>
            <a:off x="6172200" y="150876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2" name="TextBox22"/>
          <p:cNvSpPr txBox="1"/>
          <p:nvPr/>
        </p:nvSpPr>
        <p:spPr>
          <a:xfrm>
            <a:off x="6336792" y="1554480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3. VALIDASI (do-while)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6309360" y="1947672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Input Pilihan Film (1-5)
&amp; Durasi Sewa (1-7 hari).
Valid &amp; Tersedia?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8732520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lang="id-ID" sz="2000" b="1" i="0" dirty="0">
                <a:solidFill>
                  <a:srgbClr val="0284C7"/>
                </a:solidFill>
                <a:latin typeface="Calibri"/>
                <a:cs typeface="Calibri"/>
              </a:rPr>
              <a:t>➔</a:t>
            </a:r>
          </a:p>
        </p:txBody>
      </p:sp>
      <p:sp>
        <p:nvSpPr>
          <p:cNvPr id="25" name="Rect25"/>
          <p:cNvSpPr/>
          <p:nvPr/>
        </p:nvSpPr>
        <p:spPr>
          <a:xfrm>
            <a:off x="9006840" y="150876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6" name="Rect26"/>
          <p:cNvSpPr/>
          <p:nvPr/>
        </p:nvSpPr>
        <p:spPr>
          <a:xfrm>
            <a:off x="9006840" y="150876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7" name="TextBox27"/>
          <p:cNvSpPr txBox="1"/>
          <p:nvPr/>
        </p:nvSpPr>
        <p:spPr>
          <a:xfrm>
            <a:off x="9171432" y="1554480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4. PROSES PINJAM</a:t>
            </a:r>
          </a:p>
        </p:txBody>
      </p:sp>
      <p:sp>
        <p:nvSpPr>
          <p:cNvPr id="28" name="TextBox28"/>
          <p:cNvSpPr txBox="1"/>
          <p:nvPr/>
        </p:nvSpPr>
        <p:spPr>
          <a:xfrm>
            <a:off x="9144000" y="1947672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Set Status Film = Dipinjam;
Input Lama Peminjaman
Aktual (hari)</a:t>
            </a:r>
          </a:p>
        </p:txBody>
      </p:sp>
      <p:sp>
        <p:nvSpPr>
          <p:cNvPr id="29" name="TextBox29"/>
          <p:cNvSpPr txBox="1"/>
          <p:nvPr/>
        </p:nvSpPr>
        <p:spPr>
          <a:xfrm>
            <a:off x="9784080" y="34747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0284C7"/>
                </a:solidFill>
                <a:latin typeface="Calibri"/>
                <a:cs typeface="Calibri"/>
              </a:rPr>
              <a:t>⬇ Lanjut</a:t>
            </a:r>
          </a:p>
        </p:txBody>
      </p:sp>
      <p:sp>
        <p:nvSpPr>
          <p:cNvPr id="30" name="Rect30"/>
          <p:cNvSpPr/>
          <p:nvPr/>
        </p:nvSpPr>
        <p:spPr>
          <a:xfrm>
            <a:off x="502920" y="3977639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Rect31"/>
          <p:cNvSpPr/>
          <p:nvPr/>
        </p:nvSpPr>
        <p:spPr>
          <a:xfrm>
            <a:off x="502920" y="3977639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32" name="TextBox32"/>
          <p:cNvSpPr txBox="1"/>
          <p:nvPr/>
        </p:nvSpPr>
        <p:spPr>
          <a:xfrm>
            <a:off x="667512" y="4023359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5. PERHITUNGAN</a:t>
            </a:r>
          </a:p>
        </p:txBody>
      </p:sp>
      <p:sp>
        <p:nvSpPr>
          <p:cNvPr id="33" name="TextBox33"/>
          <p:cNvSpPr txBox="1"/>
          <p:nvPr/>
        </p:nvSpPr>
        <p:spPr>
          <a:xfrm>
            <a:off x="640080" y="4416551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Hitung Biaya Sewa;
Cek Lama &gt; Durasi (if-else);
Hitung Denda Bertingkat (for)</a:t>
            </a:r>
          </a:p>
        </p:txBody>
      </p:sp>
      <p:sp>
        <p:nvSpPr>
          <p:cNvPr id="34" name="TextBox34"/>
          <p:cNvSpPr txBox="1"/>
          <p:nvPr/>
        </p:nvSpPr>
        <p:spPr>
          <a:xfrm>
            <a:off x="3063240" y="4663439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lang="id-ID" sz="2000" b="1" i="0" dirty="0">
                <a:solidFill>
                  <a:srgbClr val="0284C7"/>
                </a:solidFill>
                <a:latin typeface="Calibri"/>
                <a:cs typeface="Calibri"/>
              </a:rPr>
              <a:t>➔</a:t>
            </a:r>
          </a:p>
        </p:txBody>
      </p:sp>
      <p:sp>
        <p:nvSpPr>
          <p:cNvPr id="35" name="Rect35"/>
          <p:cNvSpPr/>
          <p:nvPr/>
        </p:nvSpPr>
        <p:spPr>
          <a:xfrm>
            <a:off x="3337560" y="3977639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6" name="Rect36"/>
          <p:cNvSpPr/>
          <p:nvPr/>
        </p:nvSpPr>
        <p:spPr>
          <a:xfrm>
            <a:off x="3337560" y="3977639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37" name="TextBox37"/>
          <p:cNvSpPr txBox="1"/>
          <p:nvPr/>
        </p:nvSpPr>
        <p:spPr>
          <a:xfrm>
            <a:off x="3502152" y="4023359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6. PEMBAYARAN</a:t>
            </a:r>
          </a:p>
        </p:txBody>
      </p:sp>
      <p:sp>
        <p:nvSpPr>
          <p:cNvPr id="38" name="TextBox38"/>
          <p:cNvSpPr txBox="1"/>
          <p:nvPr/>
        </p:nvSpPr>
        <p:spPr>
          <a:xfrm>
            <a:off x="3474720" y="4416551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Hitung Total = Biaya + Denda;
Validasi Uang Bayar &gt;= Total;
Hitung Kembalian</a:t>
            </a:r>
          </a:p>
        </p:txBody>
      </p:sp>
      <p:sp>
        <p:nvSpPr>
          <p:cNvPr id="39" name="TextBox39"/>
          <p:cNvSpPr txBox="1"/>
          <p:nvPr/>
        </p:nvSpPr>
        <p:spPr>
          <a:xfrm>
            <a:off x="5897880" y="4663439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lang="id-ID" sz="2000" b="1" i="0" dirty="0">
                <a:solidFill>
                  <a:srgbClr val="0284C7"/>
                </a:solidFill>
                <a:latin typeface="Calibri"/>
                <a:cs typeface="Calibri"/>
              </a:rPr>
              <a:t>➔</a:t>
            </a:r>
          </a:p>
        </p:txBody>
      </p:sp>
      <p:sp>
        <p:nvSpPr>
          <p:cNvPr id="40" name="Rect40"/>
          <p:cNvSpPr/>
          <p:nvPr/>
        </p:nvSpPr>
        <p:spPr>
          <a:xfrm>
            <a:off x="6172200" y="3977639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1" name="Rect41"/>
          <p:cNvSpPr/>
          <p:nvPr/>
        </p:nvSpPr>
        <p:spPr>
          <a:xfrm>
            <a:off x="6172200" y="3977639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42" name="TextBox42"/>
          <p:cNvSpPr txBox="1"/>
          <p:nvPr/>
        </p:nvSpPr>
        <p:spPr>
          <a:xfrm>
            <a:off x="6336792" y="4023359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7. OUTPUT BUKTI</a:t>
            </a:r>
          </a:p>
        </p:txBody>
      </p:sp>
      <p:sp>
        <p:nvSpPr>
          <p:cNvPr id="43" name="TextBox43"/>
          <p:cNvSpPr txBox="1"/>
          <p:nvPr/>
        </p:nvSpPr>
        <p:spPr>
          <a:xfrm>
            <a:off x="6309360" y="4416551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Cetak Bukti Rental Lengkap;
Kembalikan Status Film
menjadi Tersedia</a:t>
            </a:r>
          </a:p>
        </p:txBody>
      </p:sp>
      <p:sp>
        <p:nvSpPr>
          <p:cNvPr id="44" name="TextBox44"/>
          <p:cNvSpPr txBox="1"/>
          <p:nvPr/>
        </p:nvSpPr>
        <p:spPr>
          <a:xfrm>
            <a:off x="8732520" y="4663439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  <a:buNone/>
            </a:pPr>
            <a:r>
              <a:rPr lang="id-ID" sz="2000" b="1" i="0" dirty="0">
                <a:solidFill>
                  <a:srgbClr val="0284C7"/>
                </a:solidFill>
                <a:latin typeface="Calibri"/>
                <a:cs typeface="Calibri"/>
              </a:rPr>
              <a:t>➔</a:t>
            </a:r>
          </a:p>
        </p:txBody>
      </p:sp>
      <p:sp>
        <p:nvSpPr>
          <p:cNvPr id="45" name="Rect45"/>
          <p:cNvSpPr/>
          <p:nvPr/>
        </p:nvSpPr>
        <p:spPr>
          <a:xfrm>
            <a:off x="9006840" y="3977639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6" name="Rect46"/>
          <p:cNvSpPr/>
          <p:nvPr/>
        </p:nvSpPr>
        <p:spPr>
          <a:xfrm>
            <a:off x="9006840" y="3977639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47" name="TextBox47"/>
          <p:cNvSpPr txBox="1"/>
          <p:nvPr/>
        </p:nvSpPr>
        <p:spPr>
          <a:xfrm>
            <a:off x="9171432" y="4023359"/>
            <a:ext cx="2231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8. PENGULANGAN / SELESAI</a:t>
            </a:r>
          </a:p>
        </p:txBody>
      </p:sp>
      <p:sp>
        <p:nvSpPr>
          <p:cNvPr id="48" name="TextBox48"/>
          <p:cNvSpPr txBox="1"/>
          <p:nvPr/>
        </p:nvSpPr>
        <p:spPr>
          <a:xfrm>
            <a:off x="9144000" y="4416551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ctr">
              <a:spcAft>
                <a:spcPts val="400"/>
              </a:spcAft>
              <a:buNone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Transaksi Lagi? (y/t)
Jika 'y' kembali ke Input;
Jika 't' -&gt; SELESAI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III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IMPLEMENTASI: LINGKUNGAN &amp; STRUKTUR PROGRAM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3.1 Lingkungan Pengembangan &amp; 3.2 Struktur Program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7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325880"/>
            <a:ext cx="49377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325880"/>
            <a:ext cx="493776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71600"/>
            <a:ext cx="46085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3.1 Lingkungan Pengembangan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64792"/>
            <a:ext cx="46634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Bahasa Pemrograman : Bahasa C (Standard C99 / C11)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Compiler           : GCC (MinGW-w64) via Terminal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Perintah Kompilasi : gcc -Wall -Wextra -o rental_film.exe rental_film.c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Sistem Operasi     : Microsoft Windows 10 / 11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Text Editor / IDE  : Visual Studio Code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300" b="0" i="0" dirty="0">
                <a:solidFill>
                  <a:srgbClr val="1E293B"/>
                </a:solidFill>
                <a:latin typeface="Calibri"/>
                <a:cs typeface="Calibri"/>
              </a:rPr>
              <a:t>pustaka (Header)   : #include &lt;stdio.h&gt;</a:t>
            </a:r>
          </a:p>
        </p:txBody>
      </p:sp>
      <p:sp>
        <p:nvSpPr>
          <p:cNvPr id="14" name="Rect14"/>
          <p:cNvSpPr/>
          <p:nvPr/>
        </p:nvSpPr>
        <p:spPr>
          <a:xfrm>
            <a:off x="5715000" y="1325880"/>
            <a:ext cx="58521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5715000" y="1325880"/>
            <a:ext cx="585216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5879592" y="1371600"/>
            <a:ext cx="55229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3.2 Bagian-Bagian Utama Struktur Program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5852160" y="1764792"/>
            <a:ext cx="55778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1. Bagian Input Pelanggan (inputDataPelanggan): Menerima ID dan Nama pelanggan.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2. Bagian Pemilihan &amp; Validasi Film (tampilkanDaftarFilm, inputDanValidasiFilm): Menampilkan 5 film dan memvalidasi pilihan dengan do-while.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3. Bagian Input Durasi &amp; Lama Pinjam (inputDurasiDanLamaPinjam): Menerima durasi sewa (1-7 hari) dan lama pinjam aktual.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4. Bagian Perhitungan Biaya &amp; Denda (hitungSewaDanDenda): Menghitung biaya sewa, mengecek keterlambatan (if-else), dan menghitung denda (for).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5. Bagian Pembayaran (prosesPembayaran): Memvalidasi uang bayar dan menghitung kembalian.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6. Bagian Output (tampilkanBuktiRental, tampilkanStatusSemuaFilm): Mencetak struk bukti rental dan status ketersediaan film.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7. Bagian Pengujian &amp; Pengulangan (pengujianOtomatis, main): Menguji kasus tepat waktu/terlambat dan mengulang transaksi.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III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IMPLEMENTASI: CUPLIKAN &amp; PENJELASAN SOURCE CODE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3.3 Source Code Inti &amp; 3.4 Penjelasan Struktur Kontrol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8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298448"/>
            <a:ext cx="5577840" cy="4983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298448"/>
            <a:ext cx="557784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44168"/>
            <a:ext cx="52486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3.3 Cuplikan Kode Inti (rental_film.c)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37360"/>
            <a:ext cx="530352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059669"/>
                </a:solidFill>
                <a:latin typeface="Consolas"/>
                <a:cs typeface="Consolas"/>
              </a:rPr>
              <a:t>/* Validasi pilihan film dengan do-while (Mhs 1) */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do {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printf("Pilih nomor film (1-5): ");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hasilBaca = scanf("%d", &amp;pilihanFilm);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if (pilihanFilm &lt; 1 || pilihanFilm &gt; 5)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    valid = 0;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else if (cekFilmTersedia(pilihanFilm) == 0)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    valid = 0;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else valid = 1;</a:t>
            </a:r>
          </a:p>
          <a:p>
            <a:pPr algn="l">
              <a:spcAft>
                <a:spcPts val="6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} while (valid == 0);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059669"/>
                </a:solidFill>
                <a:latin typeface="Consolas"/>
                <a:cs typeface="Consolas"/>
              </a:rPr>
              <a:t>/* Perhitungan denda dengan for &amp; if-else (Mhs 2) */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denda = 0;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for (hariKe = 1; hariKe &lt;= hariTerlambat; hariKe++) {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if (hariKe &lt;= 3) denda = denda + 5000;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    else             denda = denda + 10000;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1E293B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4" name="Rect14"/>
          <p:cNvSpPr/>
          <p:nvPr/>
        </p:nvSpPr>
        <p:spPr>
          <a:xfrm>
            <a:off x="6263640" y="1298448"/>
            <a:ext cx="530352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6263640" y="1298448"/>
            <a:ext cx="530352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428232" y="1344168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3.4 Penjelasan Komponen Kode Program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400800" y="173736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if &amp; if-else : Memilih judul/harga film (1-5), menentukan status TEPAT WAKTU vs TERLAMBAT, serta membedakan tarif denda hari ke-1..3 (Rp 5.000) dan hari ke-4 dst (Rp 10.000).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while : Digunakan pada fungsi bersihkanInput() untuk membuang sisa karakter newline di buffer stdin.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do-while : Mengulang menu utama, perulangan transaksi, serta validasi input nomor film, durasi sewa, dan uang pembayaran.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for : Mengakumulasi denda per hari keterlambatan dan menampilkan daftar status kelima film.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Variabel &amp; Operator : Menggunakan tipe int, long, char; operator aritmatika (*, +, -), relasional (&lt;, &gt;, &lt;=, ==), dan logika (||, &amp;&amp;).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Input / Output : Menggunakan printf() dan scanf() dari &lt;stdio.h&gt;.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IV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PEMBAGIAN KONTRIBUSI ANGGOTA KELOMPOK 3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4.1 Mahasiswa 1, 4.2 Mahasiswa 2, dan 4.3 Mahasiswa 3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9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325880"/>
            <a:ext cx="352044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325880"/>
            <a:ext cx="352044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71600"/>
            <a:ext cx="31912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4.1 Mahasiswa 1 — Data &amp; Film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64792"/>
            <a:ext cx="324612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Nama / NRP : ................................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Tugas Utama: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Input ID dan nama pelanggan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Menampilkan daftar pilihan film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Input &amp; validasi pilihan film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Menerapkan perulangan do-while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Fungsi yang Dikerjakan: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inputDataPelanggan()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tampilkanDaftarFilm()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inputDanValidasiFilm()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Integrasi: Menyediakan data pelanggan &amp; film valid untuk diproses Mahasiswa 2.</a:t>
            </a:r>
          </a:p>
        </p:txBody>
      </p:sp>
      <p:sp>
        <p:nvSpPr>
          <p:cNvPr id="14" name="Rect14"/>
          <p:cNvSpPr/>
          <p:nvPr/>
        </p:nvSpPr>
        <p:spPr>
          <a:xfrm>
            <a:off x="4279392" y="1325880"/>
            <a:ext cx="352044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4279392" y="1325880"/>
            <a:ext cx="3520440" cy="384048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4443984" y="1371600"/>
            <a:ext cx="31912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4.2 Mahasiswa 2 — Sewa &amp; Denda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4416552" y="1764792"/>
            <a:ext cx="324612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Nama / NRP : ................................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Tugas Utama: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Menentukan biaya sewa film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Menghitung lama peminjaman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Menghitung denda keterlambatan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Menentukan status pengembalian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Menerapkan if-else &amp; perulangan for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Fungsi yang Dikerjakan: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inputDurasiDanLamaPinjam()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hitungSewaDanDenda()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prosesPembayaran()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Integrasi: Mengolah biaya, denda, &amp; status untuk dicetak Mahasiswa 3.</a:t>
            </a:r>
          </a:p>
        </p:txBody>
      </p:sp>
      <p:sp>
        <p:nvSpPr>
          <p:cNvPr id="18" name="Rect18"/>
          <p:cNvSpPr/>
          <p:nvPr/>
        </p:nvSpPr>
        <p:spPr>
          <a:xfrm>
            <a:off x="8046720" y="1325880"/>
            <a:ext cx="352044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9" name="Rect19"/>
          <p:cNvSpPr/>
          <p:nvPr/>
        </p:nvSpPr>
        <p:spPr>
          <a:xfrm>
            <a:off x="8046720" y="1325880"/>
            <a:ext cx="3520440" cy="38404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20" name="TextBox20"/>
          <p:cNvSpPr txBox="1"/>
          <p:nvPr/>
        </p:nvSpPr>
        <p:spPr>
          <a:xfrm>
            <a:off x="8211312" y="1371600"/>
            <a:ext cx="31912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4.3 Mahasiswa 3 — Output &amp; Uji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8183880" y="1764792"/>
            <a:ext cx="324612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Nama / NRP : ................................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Tugas Utama: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Menampilkan bukti rental lengkap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Menampilkan rincian biaya &amp; denda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Menampilkan status ketersediaan film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Menguji tepat waktu &amp; terlambat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Mengintegrasikan seluruh program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Fungsi yang Dikerjakan: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tampilkanBuktiRental()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tampilkanStatusSemuaFilm()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• pengujianOtomatis() &amp; main()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100" b="0" i="0" dirty="0">
                <a:solidFill>
                  <a:srgbClr val="1E293B"/>
                </a:solidFill>
                <a:latin typeface="Calibri"/>
                <a:cs typeface="Calibri"/>
              </a:rPr>
              <a:t>Integrasi: Menyatukan modul Mhs 1 &amp; 2 dalam menu utama interaktif.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V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PENGUJIAN PROGRAM: 5 SKENARIO PENGUJIAN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5.1 Tabel Skenario Pengujian (Valid, Tidak Valid, Nilai Batas, Pembayaran)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10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28016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280160"/>
            <a:ext cx="2606040" cy="914400"/>
          </a:xfrm>
          <a:prstGeom prst="roundRect">
            <a:avLst>
              <a:gd name="adj" fmla="val 3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594360" y="137160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200" b="1" i="0" dirty="0">
                <a:solidFill>
                  <a:srgbClr val="FFFFFF"/>
                </a:solidFill>
                <a:latin typeface="Calibri"/>
                <a:cs typeface="Calibri"/>
              </a:rPr>
              <a:t>1. Input Valid (Tepat Waktu)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3246120" y="135331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Input      : Film = 1 (Rp 8.000), Durasi = 3 hari, Lama Pinjam = 3 hari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100" b="0" i="0" dirty="0">
                <a:solidFill>
                  <a:srgbClr val="475569"/>
                </a:solidFill>
                <a:latin typeface="Calibri"/>
                <a:cs typeface="Calibri"/>
              </a:rPr>
              <a:t>Diharapkan: Biaya Rp 24.000, Denda Rp 0, Status TEPAT WAKTU</a:t>
            </a:r>
          </a:p>
          <a:p>
            <a:pPr algn="l">
              <a:spcAft>
                <a:spcPts val="0"/>
              </a:spcAft>
              <a:buNone/>
            </a:pPr>
            <a:r>
              <a:rPr lang="id-ID" sz="1100" b="1" i="0" dirty="0">
                <a:solidFill>
                  <a:srgbClr val="059669"/>
                </a:solidFill>
                <a:latin typeface="Calibri"/>
                <a:cs typeface="Calibri"/>
              </a:rPr>
              <a:t>Aktual: Biaya Rp 24.000, Denda Rp 0, Status TEPAT WAKTU  [BERHASIL]</a:t>
            </a:r>
          </a:p>
        </p:txBody>
      </p:sp>
      <p:sp>
        <p:nvSpPr>
          <p:cNvPr id="14" name="Rect14"/>
          <p:cNvSpPr/>
          <p:nvPr/>
        </p:nvSpPr>
        <p:spPr>
          <a:xfrm>
            <a:off x="502920" y="228600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502920" y="2286000"/>
            <a:ext cx="2606040" cy="914400"/>
          </a:xfrm>
          <a:prstGeom prst="roundRect">
            <a:avLst>
              <a:gd name="adj" fmla="val 3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594360" y="237744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200" b="1" i="0" dirty="0">
                <a:solidFill>
                  <a:srgbClr val="FFFFFF"/>
                </a:solidFill>
                <a:latin typeface="Calibri"/>
                <a:cs typeface="Calibri"/>
              </a:rPr>
              <a:t>2. Pilihan Film Tidak Valid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3246120" y="235915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Input      : Input pilihanFilm = 9 (di luar rentang 1 s/d 5)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100" b="0" i="0" dirty="0">
                <a:solidFill>
                  <a:srgbClr val="475569"/>
                </a:solidFill>
                <a:latin typeface="Calibri"/>
                <a:cs typeface="Calibri"/>
              </a:rPr>
              <a:t>Diharapkan: Muncul pesan '[!] Error: Pilihan film tidak valid!' &amp; minta ulang</a:t>
            </a:r>
          </a:p>
          <a:p>
            <a:pPr algn="l">
              <a:spcAft>
                <a:spcPts val="0"/>
              </a:spcAft>
              <a:buNone/>
            </a:pPr>
            <a:r>
              <a:rPr lang="id-ID" sz="1100" b="1" i="0" dirty="0">
                <a:solidFill>
                  <a:srgbClr val="059669"/>
                </a:solidFill>
                <a:latin typeface="Calibri"/>
                <a:cs typeface="Calibri"/>
              </a:rPr>
              <a:t>Aktual: Pesan error tampil dan do-while meminta input ulang  [BERHASIL]</a:t>
            </a:r>
          </a:p>
        </p:txBody>
      </p:sp>
      <p:sp>
        <p:nvSpPr>
          <p:cNvPr id="18" name="Rect18"/>
          <p:cNvSpPr/>
          <p:nvPr/>
        </p:nvSpPr>
        <p:spPr>
          <a:xfrm>
            <a:off x="502920" y="329184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9" name="Rect19"/>
          <p:cNvSpPr/>
          <p:nvPr/>
        </p:nvSpPr>
        <p:spPr>
          <a:xfrm>
            <a:off x="502920" y="3291840"/>
            <a:ext cx="2606040" cy="91440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0" name="TextBox20"/>
          <p:cNvSpPr txBox="1"/>
          <p:nvPr/>
        </p:nvSpPr>
        <p:spPr>
          <a:xfrm>
            <a:off x="594360" y="338328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200" b="1" i="0" dirty="0">
                <a:solidFill>
                  <a:srgbClr val="FFFFFF"/>
                </a:solidFill>
                <a:latin typeface="Calibri"/>
                <a:cs typeface="Calibri"/>
              </a:rPr>
              <a:t>3. Nilai Batas &amp; Terlambat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3246120" y="336499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Input      : Film = 5 (Rp 9.000), Durasi = 2 hari, Lama = 7 hari (Telat 5 hari)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100" b="0" i="0" dirty="0">
                <a:solidFill>
                  <a:srgbClr val="475569"/>
                </a:solidFill>
                <a:latin typeface="Calibri"/>
                <a:cs typeface="Calibri"/>
              </a:rPr>
              <a:t>Diharapkan: Biaya Rp 18.000, Denda Rp 35.000 (3x5rb + 2x10rb), Total Rp 53.000</a:t>
            </a:r>
          </a:p>
          <a:p>
            <a:pPr algn="l">
              <a:spcAft>
                <a:spcPts val="0"/>
              </a:spcAft>
              <a:buNone/>
            </a:pPr>
            <a:r>
              <a:rPr lang="id-ID" sz="1100" b="1" i="0" dirty="0">
                <a:solidFill>
                  <a:srgbClr val="059669"/>
                </a:solidFill>
                <a:latin typeface="Calibri"/>
                <a:cs typeface="Calibri"/>
              </a:rPr>
              <a:t>Aktual: Biaya Rp 18.000, Denda Rp 35.000, Total Rp 53.000, TERLAMBAT  [BERHASIL]</a:t>
            </a:r>
          </a:p>
        </p:txBody>
      </p:sp>
      <p:sp>
        <p:nvSpPr>
          <p:cNvPr id="22" name="Rect22"/>
          <p:cNvSpPr/>
          <p:nvPr/>
        </p:nvSpPr>
        <p:spPr>
          <a:xfrm>
            <a:off x="502920" y="429768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3" name="Rect23"/>
          <p:cNvSpPr/>
          <p:nvPr/>
        </p:nvSpPr>
        <p:spPr>
          <a:xfrm>
            <a:off x="502920" y="4297680"/>
            <a:ext cx="2606040" cy="914400"/>
          </a:xfrm>
          <a:prstGeom prst="roundRect">
            <a:avLst>
              <a:gd name="adj" fmla="val 3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4" name="TextBox24"/>
          <p:cNvSpPr txBox="1"/>
          <p:nvPr/>
        </p:nvSpPr>
        <p:spPr>
          <a:xfrm>
            <a:off x="594360" y="438912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200" b="1" i="0" dirty="0">
                <a:solidFill>
                  <a:srgbClr val="FFFFFF"/>
                </a:solidFill>
                <a:latin typeface="Calibri"/>
                <a:cs typeface="Calibri"/>
              </a:rPr>
              <a:t>4. Pembayaran Kurang</a:t>
            </a:r>
          </a:p>
        </p:txBody>
      </p:sp>
      <p:sp>
        <p:nvSpPr>
          <p:cNvPr id="25" name="TextBox25"/>
          <p:cNvSpPr txBox="1"/>
          <p:nvPr/>
        </p:nvSpPr>
        <p:spPr>
          <a:xfrm>
            <a:off x="3246120" y="437083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Input      : Total Tagihan = Rp 24.000, Input uangBayar = Rp 10.000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100" b="0" i="0" dirty="0">
                <a:solidFill>
                  <a:srgbClr val="475569"/>
                </a:solidFill>
                <a:latin typeface="Calibri"/>
                <a:cs typeface="Calibri"/>
              </a:rPr>
              <a:t>Diharapkan: Pembayaran ditolak &amp; diminta memasukkan nominal yang cukup</a:t>
            </a:r>
          </a:p>
          <a:p>
            <a:pPr algn="l">
              <a:spcAft>
                <a:spcPts val="0"/>
              </a:spcAft>
              <a:buNone/>
            </a:pPr>
            <a:r>
              <a:rPr lang="id-ID" sz="1100" b="1" i="0" dirty="0">
                <a:solidFill>
                  <a:srgbClr val="059669"/>
                </a:solidFill>
                <a:latin typeface="Calibri"/>
                <a:cs typeface="Calibri"/>
              </a:rPr>
              <a:t>Aktual: Muncul '[!] Error: Uang pembayaran kurang!' &amp; diulang  [BERHASIL]</a:t>
            </a:r>
          </a:p>
        </p:txBody>
      </p:sp>
      <p:sp>
        <p:nvSpPr>
          <p:cNvPr id="26" name="Rect26"/>
          <p:cNvSpPr/>
          <p:nvPr/>
        </p:nvSpPr>
        <p:spPr>
          <a:xfrm>
            <a:off x="502920" y="530352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7" name="Rect27"/>
          <p:cNvSpPr/>
          <p:nvPr/>
        </p:nvSpPr>
        <p:spPr>
          <a:xfrm>
            <a:off x="502920" y="5303520"/>
            <a:ext cx="2606040" cy="9144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28" name="TextBox28"/>
          <p:cNvSpPr txBox="1"/>
          <p:nvPr/>
        </p:nvSpPr>
        <p:spPr>
          <a:xfrm>
            <a:off x="594360" y="539496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200" b="1" i="0" dirty="0">
                <a:solidFill>
                  <a:srgbClr val="FFFFFF"/>
                </a:solidFill>
                <a:latin typeface="Calibri"/>
                <a:cs typeface="Calibri"/>
              </a:rPr>
              <a:t>5. Pembayaran Lebih (Kembalian)</a:t>
            </a:r>
          </a:p>
        </p:txBody>
      </p:sp>
      <p:sp>
        <p:nvSpPr>
          <p:cNvPr id="29" name="TextBox29"/>
          <p:cNvSpPr txBox="1"/>
          <p:nvPr/>
        </p:nvSpPr>
        <p:spPr>
          <a:xfrm>
            <a:off x="3246120" y="537667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Input      : Total Tagihan = Rp 24.000, Input uangBayar = Rp 30.000</a:t>
            </a:r>
          </a:p>
          <a:p>
            <a:pPr algn="l">
              <a:spcAft>
                <a:spcPts val="200"/>
              </a:spcAft>
              <a:buNone/>
            </a:pPr>
            <a:r>
              <a:rPr lang="id-ID" sz="1100" b="0" i="0" dirty="0">
                <a:solidFill>
                  <a:srgbClr val="475569"/>
                </a:solidFill>
                <a:latin typeface="Calibri"/>
                <a:cs typeface="Calibri"/>
              </a:rPr>
              <a:t>Diharapkan: Pembayaran diterima &amp; Kembalian dihitung Rp 6.000</a:t>
            </a:r>
          </a:p>
          <a:p>
            <a:pPr algn="l">
              <a:spcAft>
                <a:spcPts val="0"/>
              </a:spcAft>
              <a:buNone/>
            </a:pPr>
            <a:r>
              <a:rPr lang="id-ID" sz="1100" b="1" i="0" dirty="0">
                <a:solidFill>
                  <a:srgbClr val="059669"/>
                </a:solidFill>
                <a:latin typeface="Calibri"/>
                <a:cs typeface="Calibri"/>
              </a:rPr>
              <a:t>Aktual: Kembalian tercetak Rp 6.000 pada Bukti Rental  [BERHASIL]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V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BUKTI PENGUJIAN: OUTPUT TEPAT WAKTU &amp; TERLAMBAT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5.2 Bukti Running Program pada Menu Pengujian Otomatis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11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298448"/>
            <a:ext cx="5394960" cy="49834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298448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44168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Pengujian 1 — Peminjaman Tepat Waktu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3736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38BDF8"/>
                </a:solidFill>
                <a:latin typeface="Consolas"/>
                <a:cs typeface="Consolas"/>
              </a:rPr>
              <a:t>================================================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FFFFFF"/>
                </a:solidFill>
                <a:latin typeface="Consolas"/>
                <a:cs typeface="Consolas"/>
              </a:rPr>
              <a:t>               BUKTI RENTAL FILM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38BDF8"/>
                </a:solidFill>
                <a:latin typeface="Consolas"/>
                <a:cs typeface="Consolas"/>
              </a:rPr>
              <a:t>================================================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ID Pelanggan      : P001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Nama Pelanggan    : Budi Santoso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Film Disewa       : Avengers: Endgame (F001)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Harga Sewa / Hari : Rp 8000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Durasi Sewa       : 3 hari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Lama Peminjaman   : 3 hari (Terlambat: 0 hari)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64748B"/>
                </a:solidFill>
                <a:latin typeface="Consolas"/>
                <a:cs typeface="Consolas"/>
              </a:rPr>
              <a:t>------------------------------------------------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Biaya Sewa        : Rp 24000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Denda Terlambat   : Rp 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4ADE80"/>
                </a:solidFill>
                <a:latin typeface="Consolas"/>
                <a:cs typeface="Consolas"/>
              </a:rPr>
              <a:t>TOTAL BAYAR       : Rp 24000 (Bayar: Rp 30000)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Kembalian         : Rp 6000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4ADE80"/>
                </a:solidFill>
                <a:latin typeface="Consolas"/>
                <a:cs typeface="Consolas"/>
              </a:rPr>
              <a:t>Status Kembali    : TEPAT WAKTU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Status Film       : Tersedia (Sudah Dikembalikan)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38BDF8"/>
                </a:solidFill>
                <a:latin typeface="Consolas"/>
                <a:cs typeface="Consolas"/>
              </a:rPr>
              <a:t>&gt;&gt; HASIL UJI 1 (TEPAT WAKTU): BERHASIL / LULUS</a:t>
            </a:r>
          </a:p>
        </p:txBody>
      </p:sp>
      <p:sp>
        <p:nvSpPr>
          <p:cNvPr id="14" name="Rect14"/>
          <p:cNvSpPr/>
          <p:nvPr/>
        </p:nvSpPr>
        <p:spPr>
          <a:xfrm>
            <a:off x="6172200" y="1298448"/>
            <a:ext cx="5394960" cy="49834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6172200" y="1298448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336792" y="1344168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Pengujian 2 — Peminjaman Terlambat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309360" y="173736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F87171"/>
                </a:solidFill>
                <a:latin typeface="Consolas"/>
                <a:cs typeface="Consolas"/>
              </a:rPr>
              <a:t>================================================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FFFFFF"/>
                </a:solidFill>
                <a:latin typeface="Consolas"/>
                <a:cs typeface="Consolas"/>
              </a:rPr>
              <a:t>               BUKTI RENTAL FILM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F87171"/>
                </a:solidFill>
                <a:latin typeface="Consolas"/>
                <a:cs typeface="Consolas"/>
              </a:rPr>
              <a:t>================================================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ID Pelanggan      : P002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Nama Pelanggan    : Siti Aminah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Film Disewa       : Interstellar (F005)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Harga Sewa / Hari : Rp 9000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Durasi Sewa       : 2 hari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FCA5A5"/>
                </a:solidFill>
                <a:latin typeface="Consolas"/>
                <a:cs typeface="Consolas"/>
              </a:rPr>
              <a:t>Lama Peminjaman   : 7 hari (Terlambat: 5 hari)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64748B"/>
                </a:solidFill>
                <a:latin typeface="Consolas"/>
                <a:cs typeface="Consolas"/>
              </a:rPr>
              <a:t>------------------------------------------------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Biaya Sewa        : Rp 18000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FCA5A5"/>
                </a:solidFill>
                <a:latin typeface="Consolas"/>
                <a:cs typeface="Consolas"/>
              </a:rPr>
              <a:t>Denda Terlambat   : Rp 35000 (3x5rb + 2x10rb)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FBBF24"/>
                </a:solidFill>
                <a:latin typeface="Consolas"/>
                <a:cs typeface="Consolas"/>
              </a:rPr>
              <a:t>TOTAL BAYAR       : Rp 53000 (Bayar: Rp 60000)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Kembalian         : Rp 7000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F87171"/>
                </a:solidFill>
                <a:latin typeface="Consolas"/>
                <a:cs typeface="Consolas"/>
              </a:rPr>
              <a:t>Status Kembali    : TERLAMBAT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E2E8F0"/>
                </a:solidFill>
                <a:latin typeface="Consolas"/>
                <a:cs typeface="Consolas"/>
              </a:rPr>
              <a:t>Status Film       : Tersedia (Sudah Dikembalikan)</a:t>
            </a:r>
          </a:p>
          <a:p>
            <a:pPr algn="l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38BDF8"/>
                </a:solidFill>
                <a:latin typeface="Consolas"/>
                <a:cs typeface="Consolas"/>
              </a:rPr>
              <a:t>&gt;&gt; HASIL UJI 2 (TERLAMBAT)  : BERHASIL / LULUS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VI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HASIL DAN PEMBAHASAN: STRUKTUR KONTROL &amp; SOLUSI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6.1 Hasil Program, 6.2 Penerapan Struktur Kontrol, &amp; 6.3 Kendala dan Solusi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12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325880"/>
            <a:ext cx="53949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6.1 Hasil &amp; 6.2 Penerapan Struktur Kontrol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64792"/>
            <a:ext cx="51206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Hasil Program: Program berhasil berjalan secara interaktif, memvalidasi input, menghitung sewa &amp; denda, dan menampilkan bukti rental dengan tepat.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if : Mengecek validitas input dan kecukupan pembayaran.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if-else : Menentukan harga film (1-5), menentukan status TEPAT WAKTU vs TERLAMBAT, dan memilih tarif denda harian.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while : Membersihkan sisa karakter input pada buffer stdin.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do-while : Mengulang input saat tidak valid &amp; mengulang transaksi.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for : Mengakumulasi denda per hari keterlambatan &amp; mencetak daftar film.</a:t>
            </a:r>
          </a:p>
        </p:txBody>
      </p:sp>
      <p:sp>
        <p:nvSpPr>
          <p:cNvPr id="14" name="Rect14"/>
          <p:cNvSpPr/>
          <p:nvPr/>
        </p:nvSpPr>
        <p:spPr>
          <a:xfrm>
            <a:off x="6172200" y="1325880"/>
            <a:ext cx="53949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617220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33679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6.3 Kendala dan Solusi Selama Pengerjaan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309360" y="1764792"/>
            <a:ext cx="5120640" cy="4434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Kendala 1: Input pilihan film di luar nomor 1-5 atau film sedang dipinjam.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Solusi 1 : Menambahkan validasi bertingkat di dalam perulangan do-while.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Kendala 2: Menyimpan status 5 film tanpa menggunakan array maupun struct.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Solusi 2 : Menggunakan 5 variabel global (film1_tersedia s/d film5_tersedia) dan fungsi pemilihan if-else.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Kendala 3: Uang pembayaran kurang dari total biaya sewa + denda.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Solusi 3 : Menambahkan pengecekan if (uangBayar &lt; totalBayar) di dalam do-while agar pengguna mengulang pembayaran.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Kendala 4: Program langsung tertutup setelah 1 transaksi selesai.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Solusi 4 : Membungkus menu utama dan transaksi dengan perulangan do-while.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502920" y="16459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</p:spPr>
        <p:txBody>
          <a:bodyPr wrap="square" lIns="30000" tIns="10000" rIns="30000" bIns="10000" anchor="ctr"/>
          <a:lstStyle/>
          <a:p>
            <a:pPr algn="ctr">
              <a:spcAft>
                <a:spcPts val="400"/>
              </a:spcAft>
              <a:buNone/>
            </a:pPr>
            <a:r>
              <a:rPr lang="id-ID" sz="1100" b="1" i="0" dirty="0">
                <a:solidFill>
                  <a:srgbClr val="0F172A"/>
                </a:solidFill>
                <a:latin typeface="Calibri"/>
                <a:cs typeface="Calibri"/>
              </a:rPr>
              <a:t>BAB VII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502920" y="475488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2200" b="1" i="0" dirty="0">
                <a:solidFill>
                  <a:srgbClr val="FFFFFF"/>
                </a:solidFill>
                <a:latin typeface="Calibri"/>
                <a:cs typeface="Calibri"/>
              </a:rPr>
              <a:t>KESIMPULAN, SARAN PENGEMBANGAN &amp; REFERENSI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7772400" y="1645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100" b="0" i="0" dirty="0">
                <a:solidFill>
                  <a:srgbClr val="94A3B8"/>
                </a:solidFill>
                <a:latin typeface="Calibri"/>
                <a:cs typeface="Calibri"/>
              </a:rPr>
              <a:t>7.1 Kesimpulan, 7.2 Saran Pengembangan, &amp; Daftar Pustaka</a:t>
            </a:r>
          </a:p>
        </p:txBody>
      </p:sp>
      <p:sp>
        <p:nvSpPr>
          <p:cNvPr id="7" name="Rect7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" name="TextBox8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  <a:buNone/>
            </a:pPr>
            <a:r>
              <a:rPr lang="id-ID" sz="1000" b="0" i="0" dirty="0">
                <a:solidFill>
                  <a:srgbClr val="475569"/>
                </a:solidFill>
                <a:latin typeface="Calibri"/>
                <a:cs typeface="Calibri"/>
              </a:rPr>
              <a:t>Kelompok 3 — Sistem Rental Film (Bahasa C) | Mini Project Pemrograman Dasar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10058400" y="6556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Aft>
                <a:spcPts val="400"/>
              </a:spcAft>
              <a:buNone/>
            </a:pPr>
            <a:r>
              <a:rPr lang="id-ID" sz="1000" b="1" i="0" dirty="0">
                <a:solidFill>
                  <a:srgbClr val="0F172A"/>
                </a:solidFill>
                <a:latin typeface="Calibri"/>
                <a:cs typeface="Calibri"/>
              </a:rPr>
              <a:t>Slide 13 / 13</a:t>
            </a:r>
          </a:p>
        </p:txBody>
      </p:sp>
      <p:sp>
        <p:nvSpPr>
          <p:cNvPr id="10" name="Rect10"/>
          <p:cNvSpPr/>
          <p:nvPr/>
        </p:nvSpPr>
        <p:spPr>
          <a:xfrm>
            <a:off x="502920" y="1325880"/>
            <a:ext cx="539496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1" name="Rect11"/>
          <p:cNvSpPr/>
          <p:nvPr/>
        </p:nvSpPr>
        <p:spPr>
          <a:xfrm>
            <a:off x="50292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12" name="TextBox12"/>
          <p:cNvSpPr txBox="1"/>
          <p:nvPr/>
        </p:nvSpPr>
        <p:spPr>
          <a:xfrm>
            <a:off x="66751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7.1 Kesimpulan</a:t>
            </a:r>
          </a:p>
        </p:txBody>
      </p:sp>
      <p:sp>
        <p:nvSpPr>
          <p:cNvPr id="13" name="TextBox13"/>
          <p:cNvSpPr txBox="1"/>
          <p:nvPr/>
        </p:nvSpPr>
        <p:spPr>
          <a:xfrm>
            <a:off x="640080" y="1764792"/>
            <a:ext cx="512064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Seluruh tujuan mini project telah tercapai dengan baik.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Program Sistem Rental Film dalam bahasa C berhasil menerapkan struktur kontrol if, if-else, while, do-while, dan for tanpa menggunakan array data, struct, maupun pointer.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Kolaborasi Mahasiswa 1, 2, dan 3 terintegrasi dengan baik dan seluruh skenario pengujian (Tepat Waktu &amp; Terlambat) dinyatakan LULUS.</a:t>
            </a:r>
          </a:p>
        </p:txBody>
      </p:sp>
      <p:sp>
        <p:nvSpPr>
          <p:cNvPr id="14" name="Rect14"/>
          <p:cNvSpPr/>
          <p:nvPr/>
        </p:nvSpPr>
        <p:spPr>
          <a:xfrm>
            <a:off x="6172200" y="1325880"/>
            <a:ext cx="539496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Rect15"/>
          <p:cNvSpPr/>
          <p:nvPr/>
        </p:nvSpPr>
        <p:spPr>
          <a:xfrm>
            <a:off x="6172200" y="1325880"/>
            <a:ext cx="5394960" cy="384048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</p:sp>
      <p:sp>
        <p:nvSpPr>
          <p:cNvPr id="16" name="TextBox16"/>
          <p:cNvSpPr txBox="1"/>
          <p:nvPr/>
        </p:nvSpPr>
        <p:spPr>
          <a:xfrm>
            <a:off x="6336792" y="1371600"/>
            <a:ext cx="5065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7.2 Saran Pengembangan (Tahap Berikutnya)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6309360" y="1764792"/>
            <a:ext cx="512064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Menggunakan ARRAY untuk menampung lebih banyak katalog film dan riwayat transaksi pelanggan secara dinamis.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Menggunakan STRUCT untuk mengelompokkan data Pelanggan, Film, dan Transaksi agar kode lebih rapi dan modular.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Menggunakan POINTER untuk manipulasi data antar-fungsi secara efisien serta penyimpanan ke file eksternal.</a:t>
            </a:r>
          </a:p>
        </p:txBody>
      </p:sp>
      <p:sp>
        <p:nvSpPr>
          <p:cNvPr id="18" name="Rect18"/>
          <p:cNvSpPr/>
          <p:nvPr/>
        </p:nvSpPr>
        <p:spPr>
          <a:xfrm>
            <a:off x="502920" y="4526280"/>
            <a:ext cx="1106424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9" name="Rect19"/>
          <p:cNvSpPr/>
          <p:nvPr/>
        </p:nvSpPr>
        <p:spPr>
          <a:xfrm>
            <a:off x="502920" y="4526280"/>
            <a:ext cx="11064240" cy="3840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20" name="TextBox20"/>
          <p:cNvSpPr txBox="1"/>
          <p:nvPr/>
        </p:nvSpPr>
        <p:spPr>
          <a:xfrm>
            <a:off x="667512" y="4572000"/>
            <a:ext cx="107350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  <a:buNone/>
            </a:pPr>
            <a:r>
              <a:rPr lang="id-ID" sz="1300" b="1" i="0" dirty="0">
                <a:solidFill>
                  <a:srgbClr val="FFFFFF"/>
                </a:solidFill>
                <a:latin typeface="Calibri"/>
                <a:cs typeface="Calibri"/>
              </a:rPr>
              <a:t>Daftar Pustaka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640080" y="4965192"/>
            <a:ext cx="10789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1. Kernighan, B. W., &amp; Ritchie, D. M. (1988). The C Programming Language (2nd ed.). Prentice Hall.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2. Modul Praktikum &amp; Materi Kuliah Pemrograman Dasar Tahun 2026.</a:t>
            </a:r>
          </a:p>
          <a:p>
            <a:pPr algn="l" marL="228600" indent="-228600">
              <a:spcAft>
                <a:spcPts val="500"/>
              </a:spcAft>
              <a:buChar char="•"/>
            </a:pPr>
            <a:r>
              <a:rPr lang="id-ID" sz="1200" b="0" i="0" dirty="0">
                <a:solidFill>
                  <a:srgbClr val="1E293B"/>
                </a:solidFill>
                <a:latin typeface="Calibri"/>
                <a:cs typeface="Calibri"/>
              </a:rPr>
              <a:t>3. Dokumentasi C Standard Library (&lt;stdio.h&gt;) — https://en.cppreference.com/w/c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0284C7"/>
      </a:accent1>
      <a:accent2>
        <a:srgbClr val="059669"/>
      </a:accent2>
      <a:accent3>
        <a:srgbClr val="7C3AED"/>
      </a:accent3>
      <a:accent4>
        <a:srgbClr val="D97706"/>
      </a:accent4>
      <a:accent5>
        <a:srgbClr val="DC2626"/>
      </a:accent5>
      <a:accent6>
        <a:srgbClr val="38BDF8"/>
      </a:accent6>
      <a:hlink>
        <a:srgbClr val="0284C7"/>
      </a:hlink>
      <a:folHlink>
        <a:srgbClr val="7C3AED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